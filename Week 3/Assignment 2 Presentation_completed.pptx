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7" r:id="rId3"/>
    <p:sldId id="282" r:id="rId4"/>
    <p:sldId id="279" r:id="rId5"/>
    <p:sldId id="288" r:id="rId6"/>
    <p:sldId id="289" r:id="rId7"/>
    <p:sldId id="290" r:id="rId8"/>
    <p:sldId id="292" r:id="rId9"/>
    <p:sldId id="291" r:id="rId10"/>
    <p:sldId id="295" r:id="rId11"/>
    <p:sldId id="296" r:id="rId12"/>
    <p:sldId id="294" r:id="rId13"/>
    <p:sldId id="297" r:id="rId14"/>
    <p:sldId id="298" r:id="rId15"/>
    <p:sldId id="268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3B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6"/>
  </p:normalViewPr>
  <p:slideViewPr>
    <p:cSldViewPr snapToGrid="0">
      <p:cViewPr>
        <p:scale>
          <a:sx n="66" d="100"/>
          <a:sy n="66" d="100"/>
        </p:scale>
        <p:origin x="172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m Nichols" userId="c0f0b75b5d514891" providerId="LiveId" clId="{578E52F7-7228-4A2D-B643-B7A571A3321A}"/>
    <pc:docChg chg="custSel addSld modSld sldOrd">
      <pc:chgData name="Kym Nichols" userId="c0f0b75b5d514891" providerId="LiveId" clId="{578E52F7-7228-4A2D-B643-B7A571A3321A}" dt="2025-02-21T22:56:01.962" v="212" actId="6549"/>
      <pc:docMkLst>
        <pc:docMk/>
      </pc:docMkLst>
      <pc:sldChg chg="modSp add mod ord">
        <pc:chgData name="Kym Nichols" userId="c0f0b75b5d514891" providerId="LiveId" clId="{578E52F7-7228-4A2D-B643-B7A571A3321A}" dt="2025-02-21T22:56:01.962" v="212" actId="6549"/>
        <pc:sldMkLst>
          <pc:docMk/>
          <pc:sldMk cId="268882244" sldId="297"/>
        </pc:sldMkLst>
        <pc:spChg chg="mod">
          <ac:chgData name="Kym Nichols" userId="c0f0b75b5d514891" providerId="LiveId" clId="{578E52F7-7228-4A2D-B643-B7A571A3321A}" dt="2025-02-21T22:49:18.987" v="94" actId="20577"/>
          <ac:spMkLst>
            <pc:docMk/>
            <pc:sldMk cId="268882244" sldId="297"/>
            <ac:spMk id="2" creationId="{A42D07A7-0EF5-4C37-AA80-86AE709E46E1}"/>
          </ac:spMkLst>
        </pc:spChg>
        <pc:spChg chg="mod">
          <ac:chgData name="Kym Nichols" userId="c0f0b75b5d514891" providerId="LiveId" clId="{578E52F7-7228-4A2D-B643-B7A571A3321A}" dt="2025-02-21T22:56:01.962" v="212" actId="6549"/>
          <ac:spMkLst>
            <pc:docMk/>
            <pc:sldMk cId="268882244" sldId="297"/>
            <ac:spMk id="3" creationId="{791EE4CB-0480-B61A-9809-86B8EDE3CFD0}"/>
          </ac:spMkLst>
        </pc:spChg>
      </pc:sldChg>
      <pc:sldChg chg="modSp add mod">
        <pc:chgData name="Kym Nichols" userId="c0f0b75b5d514891" providerId="LiveId" clId="{578E52F7-7228-4A2D-B643-B7A571A3321A}" dt="2025-02-21T22:50:27.559" v="110" actId="20577"/>
        <pc:sldMkLst>
          <pc:docMk/>
          <pc:sldMk cId="1233162060" sldId="298"/>
        </pc:sldMkLst>
        <pc:spChg chg="mod">
          <ac:chgData name="Kym Nichols" userId="c0f0b75b5d514891" providerId="LiveId" clId="{578E52F7-7228-4A2D-B643-B7A571A3321A}" dt="2025-02-21T22:50:27.559" v="110" actId="20577"/>
          <ac:spMkLst>
            <pc:docMk/>
            <pc:sldMk cId="1233162060" sldId="298"/>
            <ac:spMk id="3" creationId="{F6B9FA5E-44AB-833F-BDD3-91E97AB701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23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9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173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88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12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62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47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81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847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09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620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71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CC22B5-8500-2C45-91DE-A596A6DF1C3B}"/>
              </a:ext>
            </a:extLst>
          </p:cNvPr>
          <p:cNvSpPr txBox="1"/>
          <p:nvPr/>
        </p:nvSpPr>
        <p:spPr>
          <a:xfrm>
            <a:off x="870857" y="2380343"/>
            <a:ext cx="10726334" cy="2585323"/>
          </a:xfrm>
          <a:prstGeom prst="rect">
            <a:avLst/>
          </a:prstGeom>
          <a:solidFill>
            <a:srgbClr val="3B3B3B"/>
          </a:solidFill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rgbClr val="FF6600"/>
                </a:solidFill>
              </a:rPr>
              <a:t>G2M Cab Company Case Study</a:t>
            </a:r>
          </a:p>
          <a:p>
            <a:r>
              <a:rPr lang="en-US" sz="2800" dirty="0">
                <a:solidFill>
                  <a:srgbClr val="FF6600"/>
                </a:solidFill>
              </a:rPr>
              <a:t>Kymber Nichols Virtual Internship</a:t>
            </a:r>
          </a:p>
          <a:p>
            <a:endParaRPr lang="en-US" sz="4000" dirty="0"/>
          </a:p>
          <a:p>
            <a:r>
              <a:rPr lang="en-US" sz="2800" dirty="0">
                <a:solidFill>
                  <a:srgbClr val="FF6600"/>
                </a:solidFill>
              </a:rPr>
              <a:t>20-Feb-2025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F26E-9345-4747-9094-972E38700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5400000">
            <a:off x="-562431" y="562430"/>
            <a:ext cx="6858002" cy="5733142"/>
          </a:xfrm>
          <a:solidFill>
            <a:srgbClr val="3B3B3B"/>
          </a:solidFill>
        </p:spPr>
        <p:txBody>
          <a:bodyPr vert="vert270" anchor="t" anchorCtr="0"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>
                <a:solidFill>
                  <a:srgbClr val="FF6600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3D5A6-E766-7C41-BD00-B22DA4727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5400000">
            <a:off x="5533569" y="199573"/>
            <a:ext cx="6858004" cy="6458857"/>
          </a:xfrm>
        </p:spPr>
        <p:txBody>
          <a:bodyPr vert="vert270">
            <a:normAutofit/>
          </a:bodyPr>
          <a:lstStyle/>
          <a:p>
            <a:endParaRPr lang="en-US" dirty="0">
              <a:solidFill>
                <a:srgbClr val="FF6600"/>
              </a:solidFill>
            </a:endParaRPr>
          </a:p>
          <a:p>
            <a:pPr algn="just"/>
            <a:r>
              <a:rPr lang="en-US" dirty="0">
                <a:solidFill>
                  <a:srgbClr val="FF6600"/>
                </a:solidFill>
              </a:rPr>
              <a:t>   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Executive Summary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Problem Statement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Approach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EDA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EDA Summary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Recommendations</a:t>
            </a:r>
          </a:p>
          <a:p>
            <a:endParaRPr lang="en-US" sz="3200" dirty="0">
              <a:solidFill>
                <a:srgbClr val="FF6600"/>
              </a:solidFill>
            </a:endParaRPr>
          </a:p>
          <a:p>
            <a:endParaRPr lang="en-US" dirty="0">
              <a:solidFill>
                <a:srgbClr val="FF6600"/>
              </a:solidFill>
            </a:endParaRPr>
          </a:p>
          <a:p>
            <a:endParaRPr lang="en-US" dirty="0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5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9F7B-EDF4-A8D2-3BE1-58983A38D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BF3FCC5B-8A3D-794F-99A9-C1620BD16575}"/>
              </a:ext>
            </a:extLst>
          </p:cNvPr>
          <p:cNvSpPr txBox="1"/>
          <p:nvPr/>
        </p:nvSpPr>
        <p:spPr>
          <a:xfrm>
            <a:off x="1" y="-287108"/>
            <a:ext cx="12192000" cy="769441"/>
          </a:xfrm>
          <a:prstGeom prst="rect">
            <a:avLst/>
          </a:prstGeom>
          <a:solidFill>
            <a:srgbClr val="3B3B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6600"/>
                </a:solidFill>
              </a:rPr>
              <a:t>Executive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61E9E-6BF0-5C13-3A25-8A4B90236518}"/>
              </a:ext>
            </a:extLst>
          </p:cNvPr>
          <p:cNvSpPr txBox="1"/>
          <p:nvPr/>
        </p:nvSpPr>
        <p:spPr>
          <a:xfrm>
            <a:off x="637953" y="1038830"/>
            <a:ext cx="1024978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Problem Statement: </a:t>
            </a:r>
            <a:r>
              <a:rPr lang="en-US" dirty="0">
                <a:latin typeface="Abadi" panose="020F0502020204030204" pitchFamily="34" charset="0"/>
              </a:rPr>
              <a:t>XYZ company is seeking to acquire a cab company.</a:t>
            </a:r>
          </a:p>
          <a:p>
            <a:endParaRPr lang="en-US" dirty="0">
              <a:latin typeface="Abadi" panose="020F0502020204030204" pitchFamily="34" charset="0"/>
            </a:endParaRPr>
          </a:p>
          <a:p>
            <a:r>
              <a:rPr lang="en-US" b="1" dirty="0">
                <a:latin typeface="Abadi" panose="020F0502020204030204" pitchFamily="34" charset="0"/>
              </a:rPr>
              <a:t>	</a:t>
            </a:r>
            <a:r>
              <a:rPr lang="en-US" b="1" u="sng" dirty="0">
                <a:latin typeface="Abadi" panose="020F0502020204030204" pitchFamily="34" charset="0"/>
              </a:rPr>
              <a:t>Objective:</a:t>
            </a:r>
            <a:r>
              <a:rPr lang="en-US" b="1" dirty="0">
                <a:latin typeface="Abadi" panose="020F0502020204030204" pitchFamily="34" charset="0"/>
              </a:rPr>
              <a:t> </a:t>
            </a:r>
            <a:r>
              <a:rPr lang="en-US" dirty="0">
                <a:latin typeface="Abadi" panose="020F0502020204030204" pitchFamily="34" charset="0"/>
              </a:rPr>
              <a:t>Provide actionable insights about the cab industry using the provided dataset.</a:t>
            </a:r>
          </a:p>
          <a:p>
            <a:endParaRPr lang="en-US" dirty="0">
              <a:latin typeface="Abadi" panose="020F0502020204030204" pitchFamily="34" charset="0"/>
            </a:endParaRPr>
          </a:p>
          <a:p>
            <a:endParaRPr lang="en-US" dirty="0">
              <a:latin typeface="Abadi" panose="020F0502020204030204" pitchFamily="34" charset="0"/>
            </a:endParaRPr>
          </a:p>
          <a:p>
            <a:r>
              <a:rPr lang="en-US" b="1" u="sng" dirty="0">
                <a:latin typeface="Abadi" panose="020F0502020204030204" pitchFamily="34" charset="0"/>
              </a:rPr>
              <a:t>Analysis Approach</a:t>
            </a:r>
          </a:p>
          <a:p>
            <a:endParaRPr lang="en-US" u="sng" dirty="0"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F0502020204030204" pitchFamily="34" charset="0"/>
              </a:rPr>
              <a:t>Exploration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F0502020204030204" pitchFamily="34" charset="0"/>
              </a:rPr>
              <a:t>Comparative Data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F0502020204030204" pitchFamily="34" charset="0"/>
              </a:rPr>
              <a:t>Development of Hypotheses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F0502020204030204" pitchFamily="34" charset="0"/>
              </a:rPr>
              <a:t>Results of Hypotheses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F0502020204030204" pitchFamily="34" charset="0"/>
              </a:rPr>
              <a:t>Key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F0502020204030204" pitchFamily="34" charset="0"/>
              </a:rPr>
              <a:t>Recommendations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192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file&#10;&#10;AI-generated content may be incorrect.">
            <a:extLst>
              <a:ext uri="{FF2B5EF4-FFF2-40B4-BE49-F238E27FC236}">
                <a16:creationId xmlns:a16="http://schemas.microsoft.com/office/drawing/2014/main" id="{864041F1-75F4-FFFB-890E-00C0F1A814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2212" y="881278"/>
            <a:ext cx="487332" cy="651058"/>
          </a:xfrm>
          <a:prstGeom prst="rect">
            <a:avLst/>
          </a:prstGeom>
        </p:spPr>
      </p:pic>
      <p:pic>
        <p:nvPicPr>
          <p:cNvPr id="5" name="Picture 4" descr="A close-up of a file&#10;&#10;AI-generated content may be incorrect.">
            <a:extLst>
              <a:ext uri="{FF2B5EF4-FFF2-40B4-BE49-F238E27FC236}">
                <a16:creationId xmlns:a16="http://schemas.microsoft.com/office/drawing/2014/main" id="{02B112BD-7EF8-6872-6604-08A673360B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423" y="881278"/>
            <a:ext cx="487332" cy="651058"/>
          </a:xfrm>
          <a:prstGeom prst="rect">
            <a:avLst/>
          </a:prstGeom>
        </p:spPr>
      </p:pic>
      <p:pic>
        <p:nvPicPr>
          <p:cNvPr id="6" name="Picture 5" descr="A close-up of a file&#10;&#10;AI-generated content may be incorrect.">
            <a:extLst>
              <a:ext uri="{FF2B5EF4-FFF2-40B4-BE49-F238E27FC236}">
                <a16:creationId xmlns:a16="http://schemas.microsoft.com/office/drawing/2014/main" id="{7F050BAB-A657-CDB9-61C2-772E6B499F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559" y="881278"/>
            <a:ext cx="490201" cy="654891"/>
          </a:xfrm>
          <a:prstGeom prst="rect">
            <a:avLst/>
          </a:prstGeom>
        </p:spPr>
      </p:pic>
      <p:pic>
        <p:nvPicPr>
          <p:cNvPr id="7" name="Picture 6" descr="A close-up of a file&#10;&#10;AI-generated content may be incorrect.">
            <a:extLst>
              <a:ext uri="{FF2B5EF4-FFF2-40B4-BE49-F238E27FC236}">
                <a16:creationId xmlns:a16="http://schemas.microsoft.com/office/drawing/2014/main" id="{40C228F4-088D-AA14-D7A8-8D7615F221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639" y="881278"/>
            <a:ext cx="490201" cy="654891"/>
          </a:xfrm>
          <a:prstGeom prst="rect">
            <a:avLst/>
          </a:prstGeom>
        </p:spPr>
      </p:pic>
      <p:pic>
        <p:nvPicPr>
          <p:cNvPr id="8" name="Picture 7" descr="A close-up of a file&#10;&#10;AI-generated content may be incorrect.">
            <a:extLst>
              <a:ext uri="{FF2B5EF4-FFF2-40B4-BE49-F238E27FC236}">
                <a16:creationId xmlns:a16="http://schemas.microsoft.com/office/drawing/2014/main" id="{92877A31-CBEB-FD5E-0B5F-64829056D8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964" y="893168"/>
            <a:ext cx="490197" cy="65488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F5838A8-7C9C-21F9-B5DF-1981DFB6FC24}"/>
              </a:ext>
            </a:extLst>
          </p:cNvPr>
          <p:cNvSpPr txBox="1"/>
          <p:nvPr/>
        </p:nvSpPr>
        <p:spPr>
          <a:xfrm>
            <a:off x="5030286" y="530801"/>
            <a:ext cx="1070239" cy="36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Cab_Data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4DD9F5-0237-C658-3568-55996F9A0BD5}"/>
              </a:ext>
            </a:extLst>
          </p:cNvPr>
          <p:cNvSpPr txBox="1"/>
          <p:nvPr/>
        </p:nvSpPr>
        <p:spPr>
          <a:xfrm>
            <a:off x="9368695" y="563871"/>
            <a:ext cx="518928" cy="36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71D29E-6246-E539-9CE9-052197169BB7}"/>
              </a:ext>
            </a:extLst>
          </p:cNvPr>
          <p:cNvSpPr txBox="1"/>
          <p:nvPr/>
        </p:nvSpPr>
        <p:spPr>
          <a:xfrm>
            <a:off x="7618101" y="530801"/>
            <a:ext cx="1303522" cy="36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Customer_ID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773E29-DC0F-75B6-4880-A6A94DBADDA1}"/>
              </a:ext>
            </a:extLst>
          </p:cNvPr>
          <p:cNvSpPr txBox="1"/>
          <p:nvPr/>
        </p:nvSpPr>
        <p:spPr>
          <a:xfrm>
            <a:off x="6156181" y="518912"/>
            <a:ext cx="1461920" cy="36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Transaction_ID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68CDF9-3E62-1762-1757-8FFAB897C454}"/>
              </a:ext>
            </a:extLst>
          </p:cNvPr>
          <p:cNvSpPr txBox="1"/>
          <p:nvPr/>
        </p:nvSpPr>
        <p:spPr>
          <a:xfrm>
            <a:off x="10859342" y="554613"/>
            <a:ext cx="1273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US_holidays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E20D4D-D6FB-ABE9-883F-FBBB4DFEF073}"/>
              </a:ext>
            </a:extLst>
          </p:cNvPr>
          <p:cNvSpPr txBox="1"/>
          <p:nvPr/>
        </p:nvSpPr>
        <p:spPr>
          <a:xfrm>
            <a:off x="1" y="-287108"/>
            <a:ext cx="12192000" cy="769441"/>
          </a:xfrm>
          <a:prstGeom prst="rect">
            <a:avLst/>
          </a:prstGeom>
          <a:solidFill>
            <a:srgbClr val="3B3B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6600"/>
                </a:solidFill>
              </a:rPr>
              <a:t>The Dataset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5D5455-9489-2868-B415-FE7AB950224C}"/>
              </a:ext>
            </a:extLst>
          </p:cNvPr>
          <p:cNvSpPr txBox="1"/>
          <p:nvPr/>
        </p:nvSpPr>
        <p:spPr>
          <a:xfrm>
            <a:off x="331711" y="385744"/>
            <a:ext cx="432690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Dataset Records and Features</a:t>
            </a:r>
            <a:r>
              <a:rPr lang="en-US" sz="2400" b="1" u="sng" dirty="0"/>
              <a:t> </a:t>
            </a:r>
          </a:p>
          <a:p>
            <a:r>
              <a:rPr lang="en-US" sz="1600" b="1" dirty="0"/>
              <a:t>Cab_Data: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Records: 359,392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Features: 16</a:t>
            </a:r>
          </a:p>
          <a:p>
            <a:r>
              <a:rPr lang="en-US" sz="1600" b="1" dirty="0"/>
              <a:t>Transaction_ID: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Records: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Features: 3</a:t>
            </a:r>
          </a:p>
          <a:p>
            <a:r>
              <a:rPr lang="en-US" sz="1600" b="1" dirty="0"/>
              <a:t>Customer_ID: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Records: 49,171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Features: 4</a:t>
            </a:r>
          </a:p>
          <a:p>
            <a:r>
              <a:rPr lang="en-US" sz="1600" b="1" dirty="0"/>
              <a:t>City: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Records: 440,098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Features: 3</a:t>
            </a:r>
          </a:p>
          <a:p>
            <a:r>
              <a:rPr lang="en-US" b="1" u="sng" dirty="0"/>
              <a:t>Additional Collected Dataset</a:t>
            </a:r>
          </a:p>
          <a:p>
            <a:r>
              <a:rPr lang="en-US" b="1" dirty="0"/>
              <a:t>US_holidays: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Features</a:t>
            </a:r>
          </a:p>
          <a:p>
            <a:r>
              <a:rPr lang="en-US" sz="2000" b="1" u="sng" dirty="0"/>
              <a:t>Data Time Frame: </a:t>
            </a:r>
          </a:p>
          <a:p>
            <a:r>
              <a:rPr lang="en-US" sz="2000" dirty="0"/>
              <a:t>1-31-2016 to 12-31-2018</a:t>
            </a:r>
          </a:p>
          <a:p>
            <a:endParaRPr lang="en-US" sz="2000" b="1" dirty="0"/>
          </a:p>
          <a:p>
            <a:r>
              <a:rPr lang="en-US" sz="2000" b="1" dirty="0"/>
              <a:t>Total Records: 359,392</a:t>
            </a:r>
          </a:p>
          <a:p>
            <a:r>
              <a:rPr lang="en-US" sz="2000" b="1" dirty="0"/>
              <a:t>Total Features master1_df: 26</a:t>
            </a:r>
          </a:p>
          <a:p>
            <a:r>
              <a:rPr lang="en-US" sz="2000" b="1" dirty="0"/>
              <a:t>Total features </a:t>
            </a:r>
            <a:r>
              <a:rPr lang="en-US" sz="2000" b="1" dirty="0" err="1"/>
              <a:t>master_US_df</a:t>
            </a:r>
            <a:r>
              <a:rPr lang="en-US" sz="2000" b="1" dirty="0"/>
              <a:t>: 30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E161889-AD58-A413-B6A2-79C289934B4C}"/>
              </a:ext>
            </a:extLst>
          </p:cNvPr>
          <p:cNvSpPr txBox="1"/>
          <p:nvPr/>
        </p:nvSpPr>
        <p:spPr>
          <a:xfrm>
            <a:off x="5102138" y="1757841"/>
            <a:ext cx="879286" cy="337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cab_df</a:t>
            </a:r>
            <a:endParaRPr lang="en-US" sz="1600" b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4CDF453-83E3-D93F-994D-F6A573F73510}"/>
              </a:ext>
            </a:extLst>
          </p:cNvPr>
          <p:cNvSpPr txBox="1"/>
          <p:nvPr/>
        </p:nvSpPr>
        <p:spPr>
          <a:xfrm>
            <a:off x="6114904" y="1802486"/>
            <a:ext cx="1523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transaction_df</a:t>
            </a:r>
            <a:endParaRPr lang="en-US" sz="1600" b="1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628A24F-053F-95B1-690F-0516A19EFF6F}"/>
              </a:ext>
            </a:extLst>
          </p:cNvPr>
          <p:cNvSpPr txBox="1"/>
          <p:nvPr/>
        </p:nvSpPr>
        <p:spPr>
          <a:xfrm>
            <a:off x="7113242" y="2839097"/>
            <a:ext cx="1303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customer_df</a:t>
            </a:r>
            <a:endParaRPr lang="en-US" sz="1600" b="1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65A7887-B328-39F1-4355-22A773DBA187}"/>
              </a:ext>
            </a:extLst>
          </p:cNvPr>
          <p:cNvSpPr txBox="1"/>
          <p:nvPr/>
        </p:nvSpPr>
        <p:spPr>
          <a:xfrm>
            <a:off x="9365999" y="1776858"/>
            <a:ext cx="1070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city_df</a:t>
            </a:r>
            <a:endParaRPr lang="en-US" sz="16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E2A016-8ACB-405E-DE44-B1B3559D3BDC}"/>
              </a:ext>
            </a:extLst>
          </p:cNvPr>
          <p:cNvSpPr txBox="1"/>
          <p:nvPr/>
        </p:nvSpPr>
        <p:spPr>
          <a:xfrm>
            <a:off x="10960989" y="1767683"/>
            <a:ext cx="12310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holidays_df</a:t>
            </a:r>
            <a:endParaRPr lang="en-US" sz="1600" b="1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CDFECF9-7D4A-96CB-4D49-B02D7E620CF3}"/>
              </a:ext>
            </a:extLst>
          </p:cNvPr>
          <p:cNvSpPr txBox="1"/>
          <p:nvPr/>
        </p:nvSpPr>
        <p:spPr>
          <a:xfrm>
            <a:off x="4088071" y="2846707"/>
            <a:ext cx="2094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cab_transaction_df</a:t>
            </a:r>
            <a:endParaRPr lang="en-US" sz="1600" b="1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CE0F05D-0B56-AD77-517C-BD70F1F18412}"/>
              </a:ext>
            </a:extLst>
          </p:cNvPr>
          <p:cNvSpPr txBox="1"/>
          <p:nvPr/>
        </p:nvSpPr>
        <p:spPr>
          <a:xfrm>
            <a:off x="7720435" y="1808631"/>
            <a:ext cx="1303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customer_df</a:t>
            </a:r>
            <a:endParaRPr lang="en-US" sz="1600" b="1" dirty="0"/>
          </a:p>
        </p:txBody>
      </p:sp>
      <p:pic>
        <p:nvPicPr>
          <p:cNvPr id="136" name="Picture 135" descr="A file with a panda face&#10;&#10;AI-generated content may be incorrect.">
            <a:extLst>
              <a:ext uri="{FF2B5EF4-FFF2-40B4-BE49-F238E27FC236}">
                <a16:creationId xmlns:a16="http://schemas.microsoft.com/office/drawing/2014/main" id="{0AEE2266-1033-6945-BB14-C2BC1A836A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656" y="2108373"/>
            <a:ext cx="524067" cy="653157"/>
          </a:xfrm>
          <a:prstGeom prst="rect">
            <a:avLst/>
          </a:prstGeom>
        </p:spPr>
      </p:pic>
      <p:pic>
        <p:nvPicPr>
          <p:cNvPr id="137" name="Picture 136" descr="A file with a panda face&#10;&#10;AI-generated content may be incorrect.">
            <a:extLst>
              <a:ext uri="{FF2B5EF4-FFF2-40B4-BE49-F238E27FC236}">
                <a16:creationId xmlns:a16="http://schemas.microsoft.com/office/drawing/2014/main" id="{BF9443E4-7463-D3D0-EBE3-382DB02BDE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3" y="2108373"/>
            <a:ext cx="524067" cy="653157"/>
          </a:xfrm>
          <a:prstGeom prst="rect">
            <a:avLst/>
          </a:prstGeom>
        </p:spPr>
      </p:pic>
      <p:pic>
        <p:nvPicPr>
          <p:cNvPr id="138" name="Picture 137" descr="A file with a panda face&#10;&#10;AI-generated content may be incorrect.">
            <a:extLst>
              <a:ext uri="{FF2B5EF4-FFF2-40B4-BE49-F238E27FC236}">
                <a16:creationId xmlns:a16="http://schemas.microsoft.com/office/drawing/2014/main" id="{B6392A38-212E-1D57-0CAE-D7A7CD4486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505" y="2124593"/>
            <a:ext cx="524067" cy="653158"/>
          </a:xfrm>
          <a:prstGeom prst="rect">
            <a:avLst/>
          </a:prstGeom>
        </p:spPr>
      </p:pic>
      <p:pic>
        <p:nvPicPr>
          <p:cNvPr id="139" name="Picture 138" descr="A file with a panda face&#10;&#10;AI-generated content may be incorrect.">
            <a:extLst>
              <a:ext uri="{FF2B5EF4-FFF2-40B4-BE49-F238E27FC236}">
                <a16:creationId xmlns:a16="http://schemas.microsoft.com/office/drawing/2014/main" id="{B558C612-8C03-45B5-E9C3-D028F9F3FE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5874" y="2095055"/>
            <a:ext cx="549941" cy="685404"/>
          </a:xfrm>
          <a:prstGeom prst="rect">
            <a:avLst/>
          </a:prstGeom>
        </p:spPr>
      </p:pic>
      <p:pic>
        <p:nvPicPr>
          <p:cNvPr id="140" name="Picture 139" descr="A file with a panda face&#10;&#10;AI-generated content may be incorrect.">
            <a:extLst>
              <a:ext uri="{FF2B5EF4-FFF2-40B4-BE49-F238E27FC236}">
                <a16:creationId xmlns:a16="http://schemas.microsoft.com/office/drawing/2014/main" id="{A032AC8D-5A02-9747-EC58-79DF631399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282" y="2103096"/>
            <a:ext cx="549940" cy="685402"/>
          </a:xfrm>
          <a:prstGeom prst="rect">
            <a:avLst/>
          </a:prstGeom>
        </p:spPr>
      </p:pic>
      <p:pic>
        <p:nvPicPr>
          <p:cNvPr id="141" name="Picture 140" descr="A file with a panda face&#10;&#10;AI-generated content may be incorrect.">
            <a:extLst>
              <a:ext uri="{FF2B5EF4-FFF2-40B4-BE49-F238E27FC236}">
                <a16:creationId xmlns:a16="http://schemas.microsoft.com/office/drawing/2014/main" id="{3C3F5D95-D0FF-A4EA-F2C7-B5D1738517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901" y="3050360"/>
            <a:ext cx="527176" cy="657032"/>
          </a:xfrm>
          <a:prstGeom prst="rect">
            <a:avLst/>
          </a:prstGeom>
        </p:spPr>
      </p:pic>
      <p:pic>
        <p:nvPicPr>
          <p:cNvPr id="142" name="Picture 141" descr="A file with a panda face&#10;&#10;AI-generated content may be incorrect.">
            <a:extLst>
              <a:ext uri="{FF2B5EF4-FFF2-40B4-BE49-F238E27FC236}">
                <a16:creationId xmlns:a16="http://schemas.microsoft.com/office/drawing/2014/main" id="{990E21DC-36E2-FC17-D297-BC0CA7974F1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180" y="3074447"/>
            <a:ext cx="507850" cy="632946"/>
          </a:xfrm>
          <a:prstGeom prst="rect">
            <a:avLst/>
          </a:prstGeom>
        </p:spPr>
      </p:pic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9FE97E2-61D2-8CDE-7DF2-9AB33C7FFD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772739" y="1536169"/>
            <a:ext cx="1" cy="274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29F4535F-E10A-EA64-6CC0-E839E8BD5934}"/>
              </a:ext>
            </a:extLst>
          </p:cNvPr>
          <p:cNvCxnSpPr>
            <a:cxnSpLocks/>
          </p:cNvCxnSpPr>
          <p:nvPr/>
        </p:nvCxnSpPr>
        <p:spPr>
          <a:xfrm>
            <a:off x="8262175" y="1522496"/>
            <a:ext cx="7687" cy="267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54574D1C-169C-C47B-6025-FE322FD4DC66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641089" y="1532336"/>
            <a:ext cx="10389" cy="257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45CD9522-7080-8C39-F27F-34818E42149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1465878" y="1532336"/>
            <a:ext cx="0" cy="257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4C84422-B1E6-FEBB-CB5D-5CD631A4DA97}"/>
              </a:ext>
            </a:extLst>
          </p:cNvPr>
          <p:cNvCxnSpPr/>
          <p:nvPr/>
        </p:nvCxnSpPr>
        <p:spPr>
          <a:xfrm>
            <a:off x="5757102" y="2777451"/>
            <a:ext cx="172357" cy="236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92BE356A-5C80-2B20-298A-15F92A725D77}"/>
              </a:ext>
            </a:extLst>
          </p:cNvPr>
          <p:cNvCxnSpPr>
            <a:cxnSpLocks/>
          </p:cNvCxnSpPr>
          <p:nvPr/>
        </p:nvCxnSpPr>
        <p:spPr>
          <a:xfrm flipH="1">
            <a:off x="6392077" y="2790629"/>
            <a:ext cx="130761" cy="24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Picture 153" descr="A file with a panda face&#10;&#10;AI-generated content may be incorrect.">
            <a:extLst>
              <a:ext uri="{FF2B5EF4-FFF2-40B4-BE49-F238E27FC236}">
                <a16:creationId xmlns:a16="http://schemas.microsoft.com/office/drawing/2014/main" id="{B238F8D8-C052-E886-3213-BE5CB99658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668" y="4123668"/>
            <a:ext cx="527177" cy="657033"/>
          </a:xfrm>
          <a:prstGeom prst="rect">
            <a:avLst/>
          </a:prstGeom>
        </p:spPr>
      </p:pic>
      <p:pic>
        <p:nvPicPr>
          <p:cNvPr id="155" name="Picture 154" descr="A file with a panda face&#10;&#10;AI-generated content may be incorrect.">
            <a:extLst>
              <a:ext uri="{FF2B5EF4-FFF2-40B4-BE49-F238E27FC236}">
                <a16:creationId xmlns:a16="http://schemas.microsoft.com/office/drawing/2014/main" id="{D82EF838-E9D8-11CC-A2B4-D7F74AA2E6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258" y="4123668"/>
            <a:ext cx="527177" cy="657034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ED5A4B1E-71BC-7F7F-E522-546305B1DEA6}"/>
              </a:ext>
            </a:extLst>
          </p:cNvPr>
          <p:cNvSpPr txBox="1"/>
          <p:nvPr/>
        </p:nvSpPr>
        <p:spPr>
          <a:xfrm>
            <a:off x="5412569" y="3859164"/>
            <a:ext cx="2720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cab_transaction_customer_df</a:t>
            </a:r>
            <a:endParaRPr lang="en-US" sz="1600" b="1" dirty="0"/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2F777C2F-9994-34EC-674B-E6E37A7D84C4}"/>
              </a:ext>
            </a:extLst>
          </p:cNvPr>
          <p:cNvCxnSpPr>
            <a:cxnSpLocks/>
          </p:cNvCxnSpPr>
          <p:nvPr/>
        </p:nvCxnSpPr>
        <p:spPr>
          <a:xfrm>
            <a:off x="6392077" y="3726174"/>
            <a:ext cx="156206" cy="184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FFC04F4E-78D3-6A0A-27A6-968E06A32FC8}"/>
              </a:ext>
            </a:extLst>
          </p:cNvPr>
          <p:cNvCxnSpPr>
            <a:cxnSpLocks/>
          </p:cNvCxnSpPr>
          <p:nvPr/>
        </p:nvCxnSpPr>
        <p:spPr>
          <a:xfrm flipH="1">
            <a:off x="6972987" y="3699857"/>
            <a:ext cx="205875" cy="231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1" name="Picture 160" descr="A file with a panda face&#10;&#10;AI-generated content may be incorrect.">
            <a:extLst>
              <a:ext uri="{FF2B5EF4-FFF2-40B4-BE49-F238E27FC236}">
                <a16:creationId xmlns:a16="http://schemas.microsoft.com/office/drawing/2014/main" id="{DB6131D7-11E5-CF53-4995-AEDEEDB30F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53" y="4834943"/>
            <a:ext cx="522708" cy="651464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F8BFAC6B-7356-4447-FC89-06341850909A}"/>
              </a:ext>
            </a:extLst>
          </p:cNvPr>
          <p:cNvSpPr txBox="1"/>
          <p:nvPr/>
        </p:nvSpPr>
        <p:spPr>
          <a:xfrm>
            <a:off x="8300342" y="3855827"/>
            <a:ext cx="877876" cy="345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city_df</a:t>
            </a:r>
            <a:endParaRPr lang="en-US" sz="1600" b="1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5AFC5BC8-97D4-00DD-EC2F-448240CEB1CD}"/>
              </a:ext>
            </a:extLst>
          </p:cNvPr>
          <p:cNvSpPr txBox="1"/>
          <p:nvPr/>
        </p:nvSpPr>
        <p:spPr>
          <a:xfrm>
            <a:off x="7186969" y="5494859"/>
            <a:ext cx="1169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master1_df</a:t>
            </a:r>
          </a:p>
        </p:txBody>
      </p: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B7967AAA-CA2D-9B7B-3A3A-248EBF3A7AC0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5451901" y="1548054"/>
            <a:ext cx="9162" cy="274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D78F0B3C-827B-DFE4-AE79-CE18AF12926E}"/>
              </a:ext>
            </a:extLst>
          </p:cNvPr>
          <p:cNvCxnSpPr>
            <a:cxnSpLocks/>
          </p:cNvCxnSpPr>
          <p:nvPr/>
        </p:nvCxnSpPr>
        <p:spPr>
          <a:xfrm>
            <a:off x="7072350" y="4780701"/>
            <a:ext cx="289579" cy="260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3646AB1C-834F-D783-1767-00E71BBA28CE}"/>
              </a:ext>
            </a:extLst>
          </p:cNvPr>
          <p:cNvCxnSpPr/>
          <p:nvPr/>
        </p:nvCxnSpPr>
        <p:spPr>
          <a:xfrm flipH="1">
            <a:off x="8132909" y="4780701"/>
            <a:ext cx="223496" cy="260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5BAEE75-302B-C852-2577-8848184AC7E3}"/>
              </a:ext>
            </a:extLst>
          </p:cNvPr>
          <p:cNvCxnSpPr>
            <a:cxnSpLocks/>
          </p:cNvCxnSpPr>
          <p:nvPr/>
        </p:nvCxnSpPr>
        <p:spPr>
          <a:xfrm>
            <a:off x="8135026" y="5204051"/>
            <a:ext cx="1516452" cy="29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390C96E1-E1BD-5534-DF62-84A4196CE999}"/>
              </a:ext>
            </a:extLst>
          </p:cNvPr>
          <p:cNvCxnSpPr>
            <a:cxnSpLocks/>
            <a:stCxn id="140" idx="2"/>
          </p:cNvCxnSpPr>
          <p:nvPr/>
        </p:nvCxnSpPr>
        <p:spPr>
          <a:xfrm flipH="1">
            <a:off x="10371740" y="2788498"/>
            <a:ext cx="1161512" cy="2122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Picture 192" descr="A file with a panda face&#10;&#10;AI-generated content may be incorrect.">
            <a:extLst>
              <a:ext uri="{FF2B5EF4-FFF2-40B4-BE49-F238E27FC236}">
                <a16:creationId xmlns:a16="http://schemas.microsoft.com/office/drawing/2014/main" id="{258DD275-9EDD-A45D-9780-C304F1518CA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270" y="4867552"/>
            <a:ext cx="527177" cy="657034"/>
          </a:xfrm>
          <a:prstGeom prst="rect">
            <a:avLst/>
          </a:prstGeom>
        </p:spPr>
      </p:pic>
      <p:sp>
        <p:nvSpPr>
          <p:cNvPr id="194" name="TextBox 193">
            <a:extLst>
              <a:ext uri="{FF2B5EF4-FFF2-40B4-BE49-F238E27FC236}">
                <a16:creationId xmlns:a16="http://schemas.microsoft.com/office/drawing/2014/main" id="{2B3197FE-CB7F-0EAD-3DC1-644D202625A9}"/>
              </a:ext>
            </a:extLst>
          </p:cNvPr>
          <p:cNvSpPr txBox="1"/>
          <p:nvPr/>
        </p:nvSpPr>
        <p:spPr>
          <a:xfrm>
            <a:off x="9455874" y="5524586"/>
            <a:ext cx="151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master-</a:t>
            </a:r>
            <a:r>
              <a:rPr lang="en-US" sz="1600" b="1" dirty="0" err="1"/>
              <a:t>US_df</a:t>
            </a:r>
            <a:endParaRPr lang="en-US" sz="1600" b="1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EEF0E2CF-D3B5-F35D-9330-A83A4CEF6F25}"/>
              </a:ext>
            </a:extLst>
          </p:cNvPr>
          <p:cNvSpPr txBox="1"/>
          <p:nvPr/>
        </p:nvSpPr>
        <p:spPr>
          <a:xfrm>
            <a:off x="5494689" y="6067168"/>
            <a:ext cx="6313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pandas data frame master1_df is used for all questions but holidays. The holiday questions used data frame </a:t>
            </a:r>
            <a:r>
              <a:rPr lang="en-US" b="1" dirty="0" err="1"/>
              <a:t>master_US_df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2919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6C8D4-BDB9-9AE6-9807-C7B46CBCF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20FC4477-CD53-2FC1-DC27-C99840BFC3A9}"/>
              </a:ext>
            </a:extLst>
          </p:cNvPr>
          <p:cNvSpPr txBox="1"/>
          <p:nvPr/>
        </p:nvSpPr>
        <p:spPr>
          <a:xfrm>
            <a:off x="0" y="-388455"/>
            <a:ext cx="12192000" cy="769441"/>
          </a:xfrm>
          <a:prstGeom prst="rect">
            <a:avLst/>
          </a:prstGeom>
          <a:solidFill>
            <a:srgbClr val="3B3B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6600"/>
                </a:solidFill>
              </a:rPr>
              <a:t>Cab Company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67953-CF36-674E-82C2-87D9FE963183}"/>
              </a:ext>
            </a:extLst>
          </p:cNvPr>
          <p:cNvSpPr txBox="1"/>
          <p:nvPr/>
        </p:nvSpPr>
        <p:spPr>
          <a:xfrm>
            <a:off x="368654" y="773967"/>
            <a:ext cx="4111218" cy="5755422"/>
          </a:xfrm>
          <a:prstGeom prst="rect">
            <a:avLst/>
          </a:prstGeom>
          <a:noFill/>
          <a:ln w="22225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Cab Companies Evaluated: </a:t>
            </a:r>
          </a:p>
          <a:p>
            <a:r>
              <a:rPr lang="en-US" sz="1600" dirty="0"/>
              <a:t>Yellow Cab</a:t>
            </a:r>
          </a:p>
          <a:p>
            <a:r>
              <a:rPr lang="en-US" sz="1600" dirty="0"/>
              <a:t>Pink Cab</a:t>
            </a:r>
          </a:p>
          <a:p>
            <a:endParaRPr lang="en-US" sz="1600" dirty="0"/>
          </a:p>
          <a:p>
            <a:r>
              <a:rPr lang="en-US" sz="1600" b="1" dirty="0"/>
              <a:t>Total  Number of  Rides: </a:t>
            </a:r>
            <a:r>
              <a:rPr lang="en-US" sz="1600" dirty="0"/>
              <a:t>359,392</a:t>
            </a:r>
          </a:p>
          <a:p>
            <a:r>
              <a:rPr lang="en-US" sz="1600" dirty="0"/>
              <a:t>Yellow Cab: 274,681</a:t>
            </a:r>
          </a:p>
          <a:p>
            <a:r>
              <a:rPr lang="en-US" sz="1600" dirty="0"/>
              <a:t>Pink Cab:       84,711</a:t>
            </a:r>
          </a:p>
          <a:p>
            <a:endParaRPr lang="en-US" sz="1600" dirty="0"/>
          </a:p>
          <a:p>
            <a:r>
              <a:rPr lang="en-US" sz="1600" b="1" dirty="0"/>
              <a:t>Total Kilometers Travelled: </a:t>
            </a:r>
            <a:r>
              <a:rPr lang="en-US" sz="1600" dirty="0"/>
              <a:t>8,110,490.58</a:t>
            </a:r>
          </a:p>
          <a:p>
            <a:r>
              <a:rPr lang="en-US" sz="1600" dirty="0"/>
              <a:t>Yellow Cab:  6,199,417.47</a:t>
            </a:r>
          </a:p>
          <a:p>
            <a:r>
              <a:rPr lang="en-US" sz="1600" dirty="0"/>
              <a:t>Pink Cab:      1,911,073.11</a:t>
            </a:r>
          </a:p>
          <a:p>
            <a:endParaRPr lang="en-US" sz="1600" dirty="0"/>
          </a:p>
          <a:p>
            <a:r>
              <a:rPr lang="en-US" sz="1600" b="1" dirty="0"/>
              <a:t>Total Profit Generated:  </a:t>
            </a:r>
            <a:r>
              <a:rPr lang="en-US" sz="1600" dirty="0"/>
              <a:t>$49,327,701.49</a:t>
            </a:r>
          </a:p>
          <a:p>
            <a:r>
              <a:rPr lang="en-US" sz="1600" dirty="0"/>
              <a:t>Yellow Cab: $   44,020,373.17</a:t>
            </a:r>
          </a:p>
          <a:p>
            <a:r>
              <a:rPr lang="en-US" sz="1600" dirty="0"/>
              <a:t>Pink Cab:     $     5,307,328.32</a:t>
            </a:r>
          </a:p>
          <a:p>
            <a:endParaRPr lang="en-US" sz="1600" dirty="0"/>
          </a:p>
          <a:p>
            <a:r>
              <a:rPr lang="en-US" sz="1600" b="1" dirty="0"/>
              <a:t>Total  Price Charged:      </a:t>
            </a:r>
            <a:r>
              <a:rPr lang="en-US" sz="1600" dirty="0"/>
              <a:t>$152,182,138.52</a:t>
            </a:r>
          </a:p>
          <a:p>
            <a:r>
              <a:rPr lang="en-US" sz="1600" dirty="0"/>
              <a:t>Yellow Cab:  $  125,853,887.19</a:t>
            </a:r>
          </a:p>
          <a:p>
            <a:r>
              <a:rPr lang="en-US" sz="1600" dirty="0"/>
              <a:t>Pink Cab:      $     26,328,251.33</a:t>
            </a:r>
          </a:p>
          <a:p>
            <a:endParaRPr lang="en-US" sz="1600" dirty="0"/>
          </a:p>
          <a:p>
            <a:r>
              <a:rPr lang="en-US" sz="1600" b="1" dirty="0"/>
              <a:t>Service Area: </a:t>
            </a:r>
            <a:r>
              <a:rPr lang="en-US" sz="1600" dirty="0"/>
              <a:t>19 Cities</a:t>
            </a:r>
          </a:p>
          <a:p>
            <a:r>
              <a:rPr lang="en-US" sz="1600" dirty="0"/>
              <a:t>Yellow Cab:  19</a:t>
            </a:r>
          </a:p>
          <a:p>
            <a:r>
              <a:rPr lang="en-US" sz="1600" dirty="0"/>
              <a:t>Pink Cab:      19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71D3E1-99D8-D816-4C0A-DC2450C30B64}"/>
              </a:ext>
            </a:extLst>
          </p:cNvPr>
          <p:cNvGrpSpPr/>
          <p:nvPr/>
        </p:nvGrpSpPr>
        <p:grpSpPr>
          <a:xfrm>
            <a:off x="5936972" y="617129"/>
            <a:ext cx="5673351" cy="5912260"/>
            <a:chOff x="5936972" y="715101"/>
            <a:chExt cx="5673351" cy="591226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A1D0046-16F1-7EC8-8533-F7398CD73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28072" y="715101"/>
              <a:ext cx="2782251" cy="2817807"/>
            </a:xfrm>
            <a:prstGeom prst="rect">
              <a:avLst/>
            </a:prstGeom>
            <a:ln>
              <a:solidFill>
                <a:srgbClr val="3B3B3B"/>
              </a:solidFill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D61C626-5A54-BF6E-3B7E-B2C993BE3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6972" y="715101"/>
              <a:ext cx="2773473" cy="2817808"/>
            </a:xfrm>
            <a:prstGeom prst="rect">
              <a:avLst/>
            </a:prstGeom>
            <a:ln>
              <a:solidFill>
                <a:srgbClr val="3B3B3B"/>
              </a:solidFill>
            </a:ln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A3B2FBC-4238-DE57-C549-9A19BDD9C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36972" y="3663537"/>
              <a:ext cx="2782251" cy="2937165"/>
            </a:xfrm>
            <a:prstGeom prst="rect">
              <a:avLst/>
            </a:prstGeom>
            <a:ln>
              <a:solidFill>
                <a:srgbClr val="3B3B3B"/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65EAACB-F816-0666-51EB-0F0CD1260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23698" y="3676867"/>
              <a:ext cx="2782251" cy="2950494"/>
            </a:xfrm>
            <a:prstGeom prst="rect">
              <a:avLst/>
            </a:prstGeom>
            <a:ln>
              <a:solidFill>
                <a:srgbClr val="3B3B3B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17411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80E4B-2969-89B6-9EE2-177AE6AAE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15B62CD3-DE9B-6F23-AB82-29918BCA7CC1}"/>
              </a:ext>
            </a:extLst>
          </p:cNvPr>
          <p:cNvSpPr txBox="1"/>
          <p:nvPr/>
        </p:nvSpPr>
        <p:spPr>
          <a:xfrm>
            <a:off x="1" y="-287108"/>
            <a:ext cx="12192000" cy="769441"/>
          </a:xfrm>
          <a:prstGeom prst="rect">
            <a:avLst/>
          </a:prstGeom>
          <a:solidFill>
            <a:srgbClr val="3B3B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6600"/>
                </a:solidFill>
              </a:rPr>
              <a:t>Price to Profit per KM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F510D-EB94-CAEB-0B13-6AC5DEAD6C6F}"/>
              </a:ext>
            </a:extLst>
          </p:cNvPr>
          <p:cNvSpPr txBox="1"/>
          <p:nvPr/>
        </p:nvSpPr>
        <p:spPr>
          <a:xfrm>
            <a:off x="330153" y="566678"/>
            <a:ext cx="4992962" cy="2862322"/>
          </a:xfrm>
          <a:prstGeom prst="rect">
            <a:avLst/>
          </a:prstGeom>
          <a:noFill/>
          <a:ln>
            <a:solidFill>
              <a:srgbClr val="3B3B3B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Average Price Charged per KM: </a:t>
            </a:r>
            <a:r>
              <a:rPr lang="en-US" sz="1200" dirty="0"/>
              <a:t>$ 18.77</a:t>
            </a:r>
          </a:p>
          <a:p>
            <a:r>
              <a:rPr lang="en-US" sz="1200" dirty="0"/>
              <a:t>Yellow Cab: $ 20.31</a:t>
            </a:r>
          </a:p>
          <a:p>
            <a:r>
              <a:rPr lang="en-US" sz="1200" dirty="0"/>
              <a:t>Pink Cab:     $ 13.77</a:t>
            </a:r>
          </a:p>
          <a:p>
            <a:endParaRPr lang="en-US" sz="1200" dirty="0"/>
          </a:p>
          <a:p>
            <a:r>
              <a:rPr lang="en-US" sz="1200" b="1" dirty="0"/>
              <a:t>Median Price Charged per KM: </a:t>
            </a:r>
            <a:r>
              <a:rPr lang="en-US" sz="1200" dirty="0"/>
              <a:t>$ 17.15</a:t>
            </a:r>
          </a:p>
          <a:p>
            <a:r>
              <a:rPr lang="en-US" sz="1200" dirty="0"/>
              <a:t>Yellow Cab: $ 18.75</a:t>
            </a:r>
          </a:p>
          <a:p>
            <a:r>
              <a:rPr lang="en-US" sz="1200" dirty="0"/>
              <a:t>Pink Cab:     $ 13. 40</a:t>
            </a:r>
          </a:p>
          <a:p>
            <a:endParaRPr lang="en-US" sz="1200" dirty="0"/>
          </a:p>
          <a:p>
            <a:r>
              <a:rPr lang="en-US" sz="1200" b="1" dirty="0"/>
              <a:t>Minimum Price Charged per KM: </a:t>
            </a:r>
            <a:r>
              <a:rPr lang="en-US" sz="1200" dirty="0"/>
              <a:t>$6.34</a:t>
            </a:r>
          </a:p>
          <a:p>
            <a:r>
              <a:rPr lang="en-US" sz="1200" dirty="0"/>
              <a:t>Yellow Cab: $    9.16</a:t>
            </a:r>
          </a:p>
          <a:p>
            <a:r>
              <a:rPr lang="en-US" sz="1200" dirty="0"/>
              <a:t> Pink Cab:    $    6.34</a:t>
            </a:r>
          </a:p>
          <a:p>
            <a:endParaRPr lang="en-US" sz="1200" b="1" dirty="0"/>
          </a:p>
          <a:p>
            <a:r>
              <a:rPr lang="en-US" sz="1200" b="1" dirty="0"/>
              <a:t>Maximum Price Charged per KM: </a:t>
            </a:r>
            <a:r>
              <a:rPr lang="en-US" sz="1200" dirty="0"/>
              <a:t>$ 53.96</a:t>
            </a:r>
          </a:p>
          <a:p>
            <a:r>
              <a:rPr lang="en-US" sz="1200" dirty="0"/>
              <a:t>Yellow Cab: $  53.96 </a:t>
            </a:r>
          </a:p>
          <a:p>
            <a:r>
              <a:rPr lang="en-US" sz="1200" dirty="0"/>
              <a:t> Pink Cab:    $  39.05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02C59D1-44B7-50F8-ED57-E120E2FBB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901" y="3606540"/>
            <a:ext cx="3306260" cy="30327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AA9337-A822-BEAF-CFF4-E0C70DA59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895" y="3606540"/>
            <a:ext cx="3223105" cy="303279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F60E426E-1F45-1C9F-0326-EC3A0E8AA6A8}"/>
              </a:ext>
            </a:extLst>
          </p:cNvPr>
          <p:cNvGrpSpPr/>
          <p:nvPr/>
        </p:nvGrpSpPr>
        <p:grpSpPr>
          <a:xfrm>
            <a:off x="5608056" y="689564"/>
            <a:ext cx="6253791" cy="2794982"/>
            <a:chOff x="5608057" y="642636"/>
            <a:chExt cx="6253791" cy="279498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03F98BD-D215-ADE5-1177-3DF19F8CF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8057" y="642636"/>
              <a:ext cx="3223104" cy="278636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3445707-C9C5-9804-28CC-A18A79FCE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68896" y="651254"/>
              <a:ext cx="2892952" cy="2786364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4B6A7CF-0CEA-5057-D3A9-68CF9C278E93}"/>
              </a:ext>
            </a:extLst>
          </p:cNvPr>
          <p:cNvSpPr txBox="1"/>
          <p:nvPr/>
        </p:nvSpPr>
        <p:spPr>
          <a:xfrm>
            <a:off x="330153" y="3691778"/>
            <a:ext cx="4992962" cy="2862322"/>
          </a:xfrm>
          <a:prstGeom prst="rect">
            <a:avLst/>
          </a:prstGeom>
          <a:noFill/>
          <a:ln>
            <a:solidFill>
              <a:srgbClr val="3B3B3B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Average Profit per KM: </a:t>
            </a:r>
            <a:r>
              <a:rPr lang="en-US" sz="1200" dirty="0"/>
              <a:t>$ </a:t>
            </a:r>
          </a:p>
          <a:p>
            <a:r>
              <a:rPr lang="en-US" sz="1200" dirty="0"/>
              <a:t>Yellow Cab: $  7.11</a:t>
            </a:r>
          </a:p>
          <a:p>
            <a:r>
              <a:rPr lang="en-US" sz="1200" dirty="0"/>
              <a:t>Pink Cab:     $  2.77</a:t>
            </a:r>
          </a:p>
          <a:p>
            <a:endParaRPr lang="en-US" sz="1200" dirty="0"/>
          </a:p>
          <a:p>
            <a:r>
              <a:rPr lang="en-US" sz="1200" b="1" dirty="0"/>
              <a:t>Median Profit per KM: </a:t>
            </a:r>
            <a:r>
              <a:rPr lang="en-US" sz="1200" dirty="0"/>
              <a:t>$</a:t>
            </a:r>
          </a:p>
          <a:p>
            <a:r>
              <a:rPr lang="en-US" sz="1200" dirty="0"/>
              <a:t>Yellow Cab: $  5.60</a:t>
            </a:r>
          </a:p>
          <a:p>
            <a:r>
              <a:rPr lang="en-US" sz="1200" dirty="0"/>
              <a:t>Pink Cab:     $  2.42</a:t>
            </a:r>
          </a:p>
          <a:p>
            <a:endParaRPr lang="en-US" sz="1200" dirty="0"/>
          </a:p>
          <a:p>
            <a:r>
              <a:rPr lang="en-US" sz="1200" b="1" dirty="0"/>
              <a:t>Minimum Profit per KM: </a:t>
            </a:r>
            <a:r>
              <a:rPr lang="en-US" sz="1200" dirty="0"/>
              <a:t>$</a:t>
            </a:r>
          </a:p>
          <a:p>
            <a:r>
              <a:rPr lang="en-US" sz="1200" dirty="0"/>
              <a:t>Yellow Cab: $    -5.00</a:t>
            </a:r>
          </a:p>
          <a:p>
            <a:r>
              <a:rPr lang="en-US" sz="1200" dirty="0"/>
              <a:t> Pink Cab:    $    -4.91</a:t>
            </a:r>
          </a:p>
          <a:p>
            <a:endParaRPr lang="en-US" sz="1200" b="1" dirty="0"/>
          </a:p>
          <a:p>
            <a:r>
              <a:rPr lang="en-US" sz="1200" b="1" dirty="0"/>
              <a:t>Maximum  Profit per KM: </a:t>
            </a:r>
            <a:r>
              <a:rPr lang="en-US" sz="1200" dirty="0"/>
              <a:t>$ </a:t>
            </a:r>
          </a:p>
          <a:p>
            <a:r>
              <a:rPr lang="en-US" sz="1200" dirty="0"/>
              <a:t>Yellow Cab: $  41.12</a:t>
            </a:r>
          </a:p>
          <a:p>
            <a:r>
              <a:rPr lang="en-US" sz="1200" dirty="0"/>
              <a:t> Pink Cab:    $  28.65</a:t>
            </a:r>
          </a:p>
        </p:txBody>
      </p:sp>
    </p:spTree>
    <p:extLst>
      <p:ext uri="{BB962C8B-B14F-4D97-AF65-F5344CB8AC3E}">
        <p14:creationId xmlns:p14="http://schemas.microsoft.com/office/powerpoint/2010/main" val="3808339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F605-D8BC-48C7-DBCF-767676226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576EE64F-EEBA-DCBE-3F36-C7B24BA3AE34}"/>
              </a:ext>
            </a:extLst>
          </p:cNvPr>
          <p:cNvSpPr txBox="1"/>
          <p:nvPr/>
        </p:nvSpPr>
        <p:spPr>
          <a:xfrm>
            <a:off x="1" y="-287108"/>
            <a:ext cx="12192000" cy="769441"/>
          </a:xfrm>
          <a:prstGeom prst="rect">
            <a:avLst/>
          </a:prstGeom>
          <a:solidFill>
            <a:srgbClr val="3B3B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6600"/>
                </a:solidFill>
              </a:rPr>
              <a:t>Customer Base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849F7D-9877-3BD2-AC00-58F16D15DA8E}"/>
              </a:ext>
            </a:extLst>
          </p:cNvPr>
          <p:cNvSpPr txBox="1"/>
          <p:nvPr/>
        </p:nvSpPr>
        <p:spPr>
          <a:xfrm>
            <a:off x="166523" y="683251"/>
            <a:ext cx="2740306" cy="5816977"/>
          </a:xfrm>
          <a:prstGeom prst="rect">
            <a:avLst/>
          </a:prstGeom>
          <a:noFill/>
          <a:ln w="15875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Total Number of Males:            24,675</a:t>
            </a:r>
            <a:endParaRPr lang="en-US" sz="1200" dirty="0"/>
          </a:p>
          <a:p>
            <a:r>
              <a:rPr lang="en-US" sz="1200" dirty="0"/>
              <a:t>Yellow Cab:   16,856</a:t>
            </a:r>
          </a:p>
          <a:p>
            <a:r>
              <a:rPr lang="en-US" sz="1200" dirty="0"/>
              <a:t>Pink Cab:         7,819</a:t>
            </a:r>
          </a:p>
          <a:p>
            <a:endParaRPr lang="en-US" sz="1200" dirty="0"/>
          </a:p>
          <a:p>
            <a:r>
              <a:rPr lang="en-US" sz="1200" b="1" dirty="0"/>
              <a:t>Total Number of Females:        21,473</a:t>
            </a:r>
            <a:endParaRPr lang="en-US" sz="1200" dirty="0"/>
          </a:p>
          <a:p>
            <a:r>
              <a:rPr lang="en-US" sz="1200" dirty="0"/>
              <a:t>Yellow Cab:    14,463</a:t>
            </a:r>
          </a:p>
          <a:p>
            <a:r>
              <a:rPr lang="en-US" sz="1200" dirty="0"/>
              <a:t>Pink Cab:          7,010</a:t>
            </a:r>
          </a:p>
          <a:p>
            <a:endParaRPr lang="en-US" sz="1200" dirty="0"/>
          </a:p>
          <a:p>
            <a:r>
              <a:rPr lang="en-US" sz="1200" b="1" dirty="0"/>
              <a:t>Total Customers aged 15-20:     4,460 </a:t>
            </a:r>
            <a:endParaRPr lang="en-US" sz="1200" dirty="0"/>
          </a:p>
          <a:p>
            <a:r>
              <a:rPr lang="en-US" sz="1200" dirty="0"/>
              <a:t>Yellow Cab:      2,987</a:t>
            </a:r>
          </a:p>
          <a:p>
            <a:r>
              <a:rPr lang="en-US" sz="1200" dirty="0"/>
              <a:t> Pink Cab:         1,473</a:t>
            </a:r>
          </a:p>
          <a:p>
            <a:endParaRPr lang="en-US" sz="1200" b="1" dirty="0"/>
          </a:p>
          <a:p>
            <a:r>
              <a:rPr lang="en-US" sz="1200" b="1" dirty="0"/>
              <a:t>Total Customers aged 21-30:   14,775</a:t>
            </a:r>
          </a:p>
          <a:p>
            <a:r>
              <a:rPr lang="en-US" sz="1200" dirty="0"/>
              <a:t>Yellow Cab:     10,030</a:t>
            </a:r>
          </a:p>
          <a:p>
            <a:r>
              <a:rPr lang="en-US" sz="1200" dirty="0"/>
              <a:t> Pink Cab:          4,745</a:t>
            </a:r>
          </a:p>
          <a:p>
            <a:endParaRPr lang="en-US" sz="1200" dirty="0"/>
          </a:p>
          <a:p>
            <a:r>
              <a:rPr lang="en-US" sz="1200" b="1" dirty="0"/>
              <a:t>Total Customers aged 31-40:   14,597</a:t>
            </a:r>
          </a:p>
          <a:p>
            <a:r>
              <a:rPr lang="en-US" sz="1200" dirty="0"/>
              <a:t>Yellow Cab:        9,895</a:t>
            </a:r>
          </a:p>
          <a:p>
            <a:r>
              <a:rPr lang="en-US" sz="1200" dirty="0"/>
              <a:t>Pink Cab:            4,702</a:t>
            </a:r>
          </a:p>
          <a:p>
            <a:endParaRPr lang="en-US" sz="1200" dirty="0"/>
          </a:p>
          <a:p>
            <a:r>
              <a:rPr lang="en-US" sz="1200" b="1" dirty="0"/>
              <a:t>Total Customers aged 41-50:     4,988</a:t>
            </a:r>
          </a:p>
          <a:p>
            <a:r>
              <a:rPr lang="en-US" sz="1200" dirty="0"/>
              <a:t>Yellow Cab:        3,457</a:t>
            </a:r>
          </a:p>
          <a:p>
            <a:r>
              <a:rPr lang="en-US" sz="1200" dirty="0"/>
              <a:t> Pink Cab:           1,431</a:t>
            </a:r>
          </a:p>
          <a:p>
            <a:endParaRPr lang="en-US" sz="1200" dirty="0"/>
          </a:p>
          <a:p>
            <a:r>
              <a:rPr lang="en-US" sz="1200" b="1" dirty="0"/>
              <a:t>Total Customers aged 51-60:     4,863</a:t>
            </a:r>
          </a:p>
          <a:p>
            <a:r>
              <a:rPr lang="en-US" sz="1200" dirty="0"/>
              <a:t>Yellow Cab:        3,286</a:t>
            </a:r>
          </a:p>
          <a:p>
            <a:r>
              <a:rPr lang="en-US" sz="1200" dirty="0"/>
              <a:t> Pink Cab:           1,577</a:t>
            </a:r>
          </a:p>
          <a:p>
            <a:endParaRPr lang="en-US" sz="1200" dirty="0"/>
          </a:p>
          <a:p>
            <a:r>
              <a:rPr lang="en-US" sz="1200" b="1" dirty="0"/>
              <a:t>Total Customers aged 61+:        2,465</a:t>
            </a:r>
          </a:p>
          <a:p>
            <a:r>
              <a:rPr lang="en-US" sz="1200" dirty="0"/>
              <a:t>Yellow Cab:        1,664</a:t>
            </a:r>
          </a:p>
          <a:p>
            <a:r>
              <a:rPr lang="en-US" sz="1200" dirty="0"/>
              <a:t> Pink Cab:              801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E8223-79B0-1DBF-AC83-DEBA178ABD64}"/>
              </a:ext>
            </a:extLst>
          </p:cNvPr>
          <p:cNvSpPr txBox="1"/>
          <p:nvPr/>
        </p:nvSpPr>
        <p:spPr>
          <a:xfrm>
            <a:off x="9548261" y="683252"/>
            <a:ext cx="2477216" cy="5632311"/>
          </a:xfrm>
          <a:prstGeom prst="rect">
            <a:avLst/>
          </a:prstGeom>
          <a:noFill/>
          <a:ln w="15875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Male Lower Class:                     490</a:t>
            </a:r>
            <a:endParaRPr lang="en-US" sz="1200" dirty="0"/>
          </a:p>
          <a:p>
            <a:r>
              <a:rPr lang="en-US" sz="1200" dirty="0"/>
              <a:t>Yellow Cab:     332</a:t>
            </a:r>
          </a:p>
          <a:p>
            <a:r>
              <a:rPr lang="en-US" sz="1200" dirty="0"/>
              <a:t>Pink Cab:         158</a:t>
            </a:r>
          </a:p>
          <a:p>
            <a:r>
              <a:rPr lang="en-US" sz="1200" b="1" dirty="0"/>
              <a:t>Female Lower Class:                 434</a:t>
            </a:r>
            <a:endParaRPr lang="en-US" sz="1200" dirty="0"/>
          </a:p>
          <a:p>
            <a:r>
              <a:rPr lang="en-US" sz="1200" dirty="0"/>
              <a:t>Yellow Cab:      296</a:t>
            </a:r>
          </a:p>
          <a:p>
            <a:r>
              <a:rPr lang="en-US" sz="1200" dirty="0"/>
              <a:t>Pink Cab:          138</a:t>
            </a:r>
          </a:p>
          <a:p>
            <a:r>
              <a:rPr lang="en-US" sz="1200" b="1" dirty="0"/>
              <a:t>Male Lower-Middle Class:    2,283</a:t>
            </a:r>
            <a:endParaRPr lang="en-US" sz="1200" dirty="0"/>
          </a:p>
          <a:p>
            <a:r>
              <a:rPr lang="en-US" sz="1200" dirty="0"/>
              <a:t>Yellow Cab:    1,578</a:t>
            </a:r>
          </a:p>
          <a:p>
            <a:r>
              <a:rPr lang="en-US" sz="1200" dirty="0"/>
              <a:t> Pink Cab:           705</a:t>
            </a:r>
            <a:endParaRPr lang="en-US" sz="1200" b="1" dirty="0"/>
          </a:p>
          <a:p>
            <a:r>
              <a:rPr lang="en-US" sz="1200" b="1" dirty="0"/>
              <a:t>Female Lower-Middle Class: 2,073</a:t>
            </a:r>
          </a:p>
          <a:p>
            <a:r>
              <a:rPr lang="en-US" sz="1200" dirty="0"/>
              <a:t>Yellow Cab:    1,384</a:t>
            </a:r>
          </a:p>
          <a:p>
            <a:r>
              <a:rPr lang="en-US" sz="1200" dirty="0"/>
              <a:t> Pink Cab:          689</a:t>
            </a:r>
          </a:p>
          <a:p>
            <a:r>
              <a:rPr lang="en-US" sz="1200" b="1" dirty="0"/>
              <a:t>Male Middle Class:                 2,814</a:t>
            </a:r>
          </a:p>
          <a:p>
            <a:r>
              <a:rPr lang="en-US" sz="1200" dirty="0"/>
              <a:t>Yellow Cab:    1,949</a:t>
            </a:r>
          </a:p>
          <a:p>
            <a:r>
              <a:rPr lang="en-US" sz="1200" dirty="0"/>
              <a:t> Pink Cab:          865</a:t>
            </a:r>
          </a:p>
          <a:p>
            <a:r>
              <a:rPr lang="en-US" sz="1200" b="1" dirty="0"/>
              <a:t>Female Middle Class:             2,558</a:t>
            </a:r>
          </a:p>
          <a:p>
            <a:r>
              <a:rPr lang="en-US" sz="1200" dirty="0"/>
              <a:t>Yellow Cab:     1,765</a:t>
            </a:r>
          </a:p>
          <a:p>
            <a:r>
              <a:rPr lang="en-US" sz="1200" dirty="0"/>
              <a:t> Pink Cab:           793 </a:t>
            </a:r>
          </a:p>
          <a:p>
            <a:r>
              <a:rPr lang="en-US" sz="1200" b="1" dirty="0"/>
              <a:t>Male Upper –Middle Class:   4,865</a:t>
            </a:r>
          </a:p>
          <a:p>
            <a:r>
              <a:rPr lang="en-US" sz="1200" dirty="0"/>
              <a:t>Yellow Cab:      3,314</a:t>
            </a:r>
          </a:p>
          <a:p>
            <a:r>
              <a:rPr lang="en-US" sz="1200" dirty="0"/>
              <a:t> Pink Cab:           1,551</a:t>
            </a:r>
          </a:p>
          <a:p>
            <a:r>
              <a:rPr lang="en-US" sz="1200" b="1" dirty="0"/>
              <a:t>Female Upper-Middle Class: 4,143</a:t>
            </a:r>
          </a:p>
          <a:p>
            <a:r>
              <a:rPr lang="en-US" sz="1200" dirty="0"/>
              <a:t>Yellow Cab:       2,807</a:t>
            </a:r>
          </a:p>
          <a:p>
            <a:r>
              <a:rPr lang="en-US" sz="1200" dirty="0"/>
              <a:t> Pink Cab:          1,336</a:t>
            </a:r>
          </a:p>
          <a:p>
            <a:r>
              <a:rPr lang="en-US" sz="1200" b="1" dirty="0"/>
              <a:t>Male Upper Class:                14,223</a:t>
            </a:r>
          </a:p>
          <a:p>
            <a:r>
              <a:rPr lang="en-US" sz="1200" dirty="0"/>
              <a:t>Yellow Cab:       9,683</a:t>
            </a:r>
          </a:p>
          <a:p>
            <a:r>
              <a:rPr lang="en-US" sz="1200" dirty="0"/>
              <a:t> Pink Cab:          4,540</a:t>
            </a:r>
          </a:p>
          <a:p>
            <a:r>
              <a:rPr lang="en-US" sz="1200" b="1" dirty="0"/>
              <a:t>Female Upper Class:             12,265</a:t>
            </a:r>
          </a:p>
          <a:p>
            <a:r>
              <a:rPr lang="en-US" sz="1200" dirty="0"/>
              <a:t>Yellow Cab:       8,211</a:t>
            </a:r>
          </a:p>
          <a:p>
            <a:r>
              <a:rPr lang="en-US" sz="1200" dirty="0"/>
              <a:t> Pink Cab:          4,054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E3F84-0ECB-6D07-0E34-C1E5EE329C92}"/>
              </a:ext>
            </a:extLst>
          </p:cNvPr>
          <p:cNvSpPr txBox="1"/>
          <p:nvPr/>
        </p:nvSpPr>
        <p:spPr>
          <a:xfrm>
            <a:off x="3070459" y="683251"/>
            <a:ext cx="6208295" cy="369332"/>
          </a:xfrm>
          <a:prstGeom prst="rect">
            <a:avLst/>
          </a:prstGeom>
          <a:noFill/>
          <a:ln w="15875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b="1" dirty="0"/>
              <a:t>Total Transactions: 359,392      Total Customers: 46,148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B9AFF2-5DE4-7AE8-D8DE-79B79D7BE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69" y="3874532"/>
            <a:ext cx="6594692" cy="27159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D3D9CCD-CFBA-9005-27D8-42A6B9BD5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569" y="1187761"/>
            <a:ext cx="6519075" cy="254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2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853CC-E1B2-EF61-D020-8B3CC5A3E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E540E44B-74D0-84A1-F5E8-408E7EE42D9E}"/>
              </a:ext>
            </a:extLst>
          </p:cNvPr>
          <p:cNvSpPr txBox="1"/>
          <p:nvPr/>
        </p:nvSpPr>
        <p:spPr>
          <a:xfrm>
            <a:off x="1" y="-287108"/>
            <a:ext cx="12192000" cy="769441"/>
          </a:xfrm>
          <a:prstGeom prst="rect">
            <a:avLst/>
          </a:prstGeom>
          <a:solidFill>
            <a:srgbClr val="3B3B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6600"/>
                </a:solidFill>
              </a:rPr>
              <a:t>Service Area Demand Summary</a:t>
            </a:r>
          </a:p>
        </p:txBody>
      </p:sp>
      <p:pic>
        <p:nvPicPr>
          <p:cNvPr id="8" name="Picture 7" descr="A map of the united states&#10;&#10;AI-generated content may be incorrect.">
            <a:extLst>
              <a:ext uri="{FF2B5EF4-FFF2-40B4-BE49-F238E27FC236}">
                <a16:creationId xmlns:a16="http://schemas.microsoft.com/office/drawing/2014/main" id="{2386E647-16B2-B869-E7A2-8A206AAE5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7" y="482333"/>
            <a:ext cx="12191999" cy="6363363"/>
          </a:xfrm>
          <a:prstGeom prst="rect">
            <a:avLst/>
          </a:prstGeom>
        </p:spPr>
      </p:pic>
      <p:pic>
        <p:nvPicPr>
          <p:cNvPr id="17" name="Picture 16" descr="A yellow pie chart with black text&#10;&#10;AI-generated content may be incorrect.">
            <a:extLst>
              <a:ext uri="{FF2B5EF4-FFF2-40B4-BE49-F238E27FC236}">
                <a16:creationId xmlns:a16="http://schemas.microsoft.com/office/drawing/2014/main" id="{84D9DD1D-67CB-EBE4-A976-DC175EBE0B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756" y="5199332"/>
            <a:ext cx="841748" cy="85367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FD1E30-6C09-8FBA-B769-9D1AC51C981A}"/>
              </a:ext>
            </a:extLst>
          </p:cNvPr>
          <p:cNvCxnSpPr>
            <a:cxnSpLocks/>
          </p:cNvCxnSpPr>
          <p:nvPr/>
        </p:nvCxnSpPr>
        <p:spPr>
          <a:xfrm>
            <a:off x="9124749" y="5005137"/>
            <a:ext cx="1225667" cy="21299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CB4A80-B218-CC48-CDC1-6DF379C53957}"/>
              </a:ext>
            </a:extLst>
          </p:cNvPr>
          <p:cNvCxnSpPr>
            <a:cxnSpLocks/>
          </p:cNvCxnSpPr>
          <p:nvPr/>
        </p:nvCxnSpPr>
        <p:spPr>
          <a:xfrm>
            <a:off x="9124749" y="5005137"/>
            <a:ext cx="1067921" cy="843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Picture 22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D0F9CB52-1216-D4C7-C38F-18E86BDB0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6529" y="5896959"/>
            <a:ext cx="845786" cy="853678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720515-5F16-E82B-270C-1AC288649560}"/>
              </a:ext>
            </a:extLst>
          </p:cNvPr>
          <p:cNvCxnSpPr>
            <a:cxnSpLocks/>
          </p:cNvCxnSpPr>
          <p:nvPr/>
        </p:nvCxnSpPr>
        <p:spPr>
          <a:xfrm flipV="1">
            <a:off x="9962147" y="6107651"/>
            <a:ext cx="1195879" cy="4856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01EDF3-03C3-61E8-39C5-EA66AB0D8F1E}"/>
              </a:ext>
            </a:extLst>
          </p:cNvPr>
          <p:cNvCxnSpPr>
            <a:cxnSpLocks/>
          </p:cNvCxnSpPr>
          <p:nvPr/>
        </p:nvCxnSpPr>
        <p:spPr>
          <a:xfrm>
            <a:off x="9962147" y="6593305"/>
            <a:ext cx="1239942" cy="691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" name="Picture 36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962BF1FD-DA45-4B76-4906-C034C9782F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630" y="4236118"/>
            <a:ext cx="828194" cy="837224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FB829A-C042-52D2-A13D-B7F9F9B5DB8D}"/>
              </a:ext>
            </a:extLst>
          </p:cNvPr>
          <p:cNvCxnSpPr>
            <a:cxnSpLocks/>
          </p:cNvCxnSpPr>
          <p:nvPr/>
        </p:nvCxnSpPr>
        <p:spPr>
          <a:xfrm flipV="1">
            <a:off x="8624234" y="4375687"/>
            <a:ext cx="2016667" cy="3021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949FE10-5228-C99B-F588-582A9C0338C6}"/>
              </a:ext>
            </a:extLst>
          </p:cNvPr>
          <p:cNvCxnSpPr>
            <a:cxnSpLocks/>
          </p:cNvCxnSpPr>
          <p:nvPr/>
        </p:nvCxnSpPr>
        <p:spPr>
          <a:xfrm>
            <a:off x="8624234" y="4711523"/>
            <a:ext cx="2123654" cy="2911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Picture 45" descr="A yellow circle with black text and numbers&#10;&#10;AI-generated content may be incorrect.">
            <a:extLst>
              <a:ext uri="{FF2B5EF4-FFF2-40B4-BE49-F238E27FC236}">
                <a16:creationId xmlns:a16="http://schemas.microsoft.com/office/drawing/2014/main" id="{852290E0-B0E5-66E2-2115-EE89ADF0BB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33" y="3308961"/>
            <a:ext cx="843704" cy="837224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5434718-5DDD-1037-D20A-2401026DEF68}"/>
              </a:ext>
            </a:extLst>
          </p:cNvPr>
          <p:cNvCxnSpPr>
            <a:cxnSpLocks/>
          </p:cNvCxnSpPr>
          <p:nvPr/>
        </p:nvCxnSpPr>
        <p:spPr>
          <a:xfrm flipV="1">
            <a:off x="10185907" y="3408309"/>
            <a:ext cx="1313515" cy="3632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5CA11D6-7A3C-BDEE-A2F0-B7BAF1A4FCD6}"/>
              </a:ext>
            </a:extLst>
          </p:cNvPr>
          <p:cNvCxnSpPr>
            <a:cxnSpLocks/>
          </p:cNvCxnSpPr>
          <p:nvPr/>
        </p:nvCxnSpPr>
        <p:spPr>
          <a:xfrm>
            <a:off x="10185907" y="3829805"/>
            <a:ext cx="1313515" cy="2008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3" name="Picture 52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D5D14EC4-6AB5-B024-5D0F-47F171E3EDE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1134" y="1676217"/>
            <a:ext cx="833372" cy="837224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3D1F000-C927-A25D-5F10-1725E5994DBA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10881924" y="2094829"/>
            <a:ext cx="389210" cy="6906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A66BBEB-11E5-790A-2327-8C6C20CB2871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10881924" y="2513441"/>
            <a:ext cx="805896" cy="364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Picture 68" descr="A yellow circle with black text&#10;&#10;AI-generated content may be incorrect.">
            <a:extLst>
              <a:ext uri="{FF2B5EF4-FFF2-40B4-BE49-F238E27FC236}">
                <a16:creationId xmlns:a16="http://schemas.microsoft.com/office/drawing/2014/main" id="{CC3B6C1F-C3B0-0AE3-CB9F-608A5C38D4A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087" y="844897"/>
            <a:ext cx="828195" cy="838420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271B2C8-3106-C115-A01B-201AE74D4753}"/>
              </a:ext>
            </a:extLst>
          </p:cNvPr>
          <p:cNvCxnSpPr/>
          <p:nvPr/>
        </p:nvCxnSpPr>
        <p:spPr>
          <a:xfrm flipH="1" flipV="1">
            <a:off x="10106526" y="1482291"/>
            <a:ext cx="427389" cy="17226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47E5644-FFEF-B12F-2FF9-363E83D07FE7}"/>
              </a:ext>
            </a:extLst>
          </p:cNvPr>
          <p:cNvCxnSpPr/>
          <p:nvPr/>
        </p:nvCxnSpPr>
        <p:spPr>
          <a:xfrm flipV="1">
            <a:off x="10533915" y="1497191"/>
            <a:ext cx="213973" cy="17077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6" name="Picture 75" descr="A yellow circle with a pink and black number&#10;&#10;AI-generated content may be incorrect.">
            <a:extLst>
              <a:ext uri="{FF2B5EF4-FFF2-40B4-BE49-F238E27FC236}">
                <a16:creationId xmlns:a16="http://schemas.microsoft.com/office/drawing/2014/main" id="{7045A44A-5EB4-9AFA-2956-A3C51B4312E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801" y="1438242"/>
            <a:ext cx="828195" cy="838467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4038869-AD66-417B-5858-1E0B950BDA58}"/>
              </a:ext>
            </a:extLst>
          </p:cNvPr>
          <p:cNvCxnSpPr>
            <a:cxnSpLocks/>
          </p:cNvCxnSpPr>
          <p:nvPr/>
        </p:nvCxnSpPr>
        <p:spPr>
          <a:xfrm>
            <a:off x="8244763" y="2157911"/>
            <a:ext cx="61839" cy="12532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E2D9FC4-0245-C05A-1668-1746F25AAFD3}"/>
              </a:ext>
            </a:extLst>
          </p:cNvPr>
          <p:cNvCxnSpPr>
            <a:cxnSpLocks/>
          </p:cNvCxnSpPr>
          <p:nvPr/>
        </p:nvCxnSpPr>
        <p:spPr>
          <a:xfrm flipV="1">
            <a:off x="8358684" y="2176866"/>
            <a:ext cx="402197" cy="12521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9" name="Picture 98" descr="A yellow and pink circle with black text&#10;&#10;AI-generated content may be incorrect.">
            <a:extLst>
              <a:ext uri="{FF2B5EF4-FFF2-40B4-BE49-F238E27FC236}">
                <a16:creationId xmlns:a16="http://schemas.microsoft.com/office/drawing/2014/main" id="{1133C3D3-5251-7E61-DE3E-4BEB7348644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827" y="1929318"/>
            <a:ext cx="846076" cy="843469"/>
          </a:xfrm>
          <a:prstGeom prst="rect">
            <a:avLst/>
          </a:prstGeom>
        </p:spPr>
      </p:pic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B28F061-6D76-E75A-8696-39B99A0F143D}"/>
              </a:ext>
            </a:extLst>
          </p:cNvPr>
          <p:cNvCxnSpPr>
            <a:cxnSpLocks/>
          </p:cNvCxnSpPr>
          <p:nvPr/>
        </p:nvCxnSpPr>
        <p:spPr>
          <a:xfrm flipH="1" flipV="1">
            <a:off x="9124749" y="2651773"/>
            <a:ext cx="433137" cy="9538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370B823C-5FFF-062A-B25B-117AF38BFF64}"/>
              </a:ext>
            </a:extLst>
          </p:cNvPr>
          <p:cNvCxnSpPr>
            <a:cxnSpLocks/>
            <a:endCxn id="99" idx="3"/>
          </p:cNvCxnSpPr>
          <p:nvPr/>
        </p:nvCxnSpPr>
        <p:spPr>
          <a:xfrm flipV="1">
            <a:off x="9557886" y="2351053"/>
            <a:ext cx="287017" cy="12545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0" name="Picture 109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D264AC56-BC41-9E54-8DEA-F250345F206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302" y="5970406"/>
            <a:ext cx="836941" cy="843469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4B25E29-9772-EB80-6B9F-ACD9D8514169}"/>
              </a:ext>
            </a:extLst>
          </p:cNvPr>
          <p:cNvCxnSpPr>
            <a:cxnSpLocks/>
          </p:cNvCxnSpPr>
          <p:nvPr/>
        </p:nvCxnSpPr>
        <p:spPr>
          <a:xfrm>
            <a:off x="6699183" y="5775158"/>
            <a:ext cx="875899" cy="2379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244E540-F536-7308-D32C-61BFEB3988D2}"/>
              </a:ext>
            </a:extLst>
          </p:cNvPr>
          <p:cNvCxnSpPr>
            <a:cxnSpLocks/>
          </p:cNvCxnSpPr>
          <p:nvPr/>
        </p:nvCxnSpPr>
        <p:spPr>
          <a:xfrm>
            <a:off x="6699181" y="5848606"/>
            <a:ext cx="624121" cy="6676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8" name="Picture 117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92F243A6-F1B3-9150-18E6-6750516B78C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857" y="1060556"/>
            <a:ext cx="842163" cy="843469"/>
          </a:xfrm>
          <a:prstGeom prst="rect">
            <a:avLst/>
          </a:prstGeom>
        </p:spPr>
      </p:pic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225D5E7-1890-5AA2-211D-F1D81D7567D9}"/>
              </a:ext>
            </a:extLst>
          </p:cNvPr>
          <p:cNvCxnSpPr>
            <a:cxnSpLocks/>
          </p:cNvCxnSpPr>
          <p:nvPr/>
        </p:nvCxnSpPr>
        <p:spPr>
          <a:xfrm flipV="1">
            <a:off x="6877727" y="1626088"/>
            <a:ext cx="0" cy="37347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4D2480C-10B5-E331-98A6-0F14C44ACD9B}"/>
              </a:ext>
            </a:extLst>
          </p:cNvPr>
          <p:cNvCxnSpPr>
            <a:cxnSpLocks/>
          </p:cNvCxnSpPr>
          <p:nvPr/>
        </p:nvCxnSpPr>
        <p:spPr>
          <a:xfrm flipV="1">
            <a:off x="6877727" y="1725160"/>
            <a:ext cx="719828" cy="36356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4" name="Picture 123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C28DEB68-F095-5408-15CC-74500250BFE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174" y="1067245"/>
            <a:ext cx="834186" cy="836780"/>
          </a:xfrm>
          <a:prstGeom prst="rect">
            <a:avLst/>
          </a:prstGeom>
        </p:spPr>
      </p:pic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40B5ECD-0C56-2181-5001-7E6C40FC7FF3}"/>
              </a:ext>
            </a:extLst>
          </p:cNvPr>
          <p:cNvCxnSpPr>
            <a:cxnSpLocks/>
          </p:cNvCxnSpPr>
          <p:nvPr/>
        </p:nvCxnSpPr>
        <p:spPr>
          <a:xfrm flipH="1" flipV="1">
            <a:off x="5767766" y="1683317"/>
            <a:ext cx="26650" cy="19223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F296331-BACB-A9D3-CF0D-D0B01104FBF9}"/>
              </a:ext>
            </a:extLst>
          </p:cNvPr>
          <p:cNvCxnSpPr>
            <a:cxnSpLocks/>
          </p:cNvCxnSpPr>
          <p:nvPr/>
        </p:nvCxnSpPr>
        <p:spPr>
          <a:xfrm flipV="1">
            <a:off x="5804034" y="1856632"/>
            <a:ext cx="565081" cy="1790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5" name="Picture 144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967BBDED-01E7-0D8B-14C7-6CF44345B2D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83" y="1204353"/>
            <a:ext cx="842161" cy="843469"/>
          </a:xfrm>
          <a:prstGeom prst="rect">
            <a:avLst/>
          </a:prstGeom>
        </p:spPr>
      </p:pic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42E5593-3DFE-4304-6776-88BF8A67A5A5}"/>
              </a:ext>
            </a:extLst>
          </p:cNvPr>
          <p:cNvCxnSpPr>
            <a:cxnSpLocks/>
          </p:cNvCxnSpPr>
          <p:nvPr/>
        </p:nvCxnSpPr>
        <p:spPr>
          <a:xfrm flipH="1" flipV="1">
            <a:off x="3012707" y="1337912"/>
            <a:ext cx="450870" cy="3872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23D00A72-850D-1627-1FF5-72BFAAB5AEDA}"/>
              </a:ext>
            </a:extLst>
          </p:cNvPr>
          <p:cNvCxnSpPr>
            <a:cxnSpLocks/>
          </p:cNvCxnSpPr>
          <p:nvPr/>
        </p:nvCxnSpPr>
        <p:spPr>
          <a:xfrm flipH="1">
            <a:off x="3012707" y="1784412"/>
            <a:ext cx="466067" cy="1449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1904FA68-2B4F-F941-CF63-DC0129D61098}"/>
              </a:ext>
            </a:extLst>
          </p:cNvPr>
          <p:cNvCxnSpPr>
            <a:cxnSpLocks/>
            <a:endCxn id="153" idx="3"/>
          </p:cNvCxnSpPr>
          <p:nvPr/>
        </p:nvCxnSpPr>
        <p:spPr>
          <a:xfrm flipH="1" flipV="1">
            <a:off x="2853959" y="2471612"/>
            <a:ext cx="251162" cy="1071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3" name="Picture 152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3D1205F5-16FC-F866-2AEB-3A25A948AE8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021" y="2047822"/>
            <a:ext cx="844938" cy="847579"/>
          </a:xfrm>
          <a:prstGeom prst="rect">
            <a:avLst/>
          </a:prstGeom>
        </p:spPr>
      </p:pic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F6E2BFDB-37F8-CC16-FF2B-12317E59C5DB}"/>
              </a:ext>
            </a:extLst>
          </p:cNvPr>
          <p:cNvCxnSpPr>
            <a:endCxn id="153" idx="2"/>
          </p:cNvCxnSpPr>
          <p:nvPr/>
        </p:nvCxnSpPr>
        <p:spPr>
          <a:xfrm flipH="1" flipV="1">
            <a:off x="2431490" y="2895401"/>
            <a:ext cx="673631" cy="6475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F735A61A-9FF8-7725-1475-2AAE4449F651}"/>
              </a:ext>
            </a:extLst>
          </p:cNvPr>
          <p:cNvSpPr/>
          <p:nvPr/>
        </p:nvSpPr>
        <p:spPr>
          <a:xfrm>
            <a:off x="-9617" y="465858"/>
            <a:ext cx="1778023" cy="4398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4DC6977-69B0-D816-8A5D-B937BB365748}"/>
              </a:ext>
            </a:extLst>
          </p:cNvPr>
          <p:cNvSpPr txBox="1"/>
          <p:nvPr/>
        </p:nvSpPr>
        <p:spPr>
          <a:xfrm>
            <a:off x="66391" y="483418"/>
            <a:ext cx="166801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19 Cities</a:t>
            </a:r>
          </a:p>
          <a:p>
            <a:r>
              <a:rPr lang="en-US" sz="1400" dirty="0"/>
              <a:t>1. Atlanta</a:t>
            </a:r>
          </a:p>
          <a:p>
            <a:r>
              <a:rPr lang="en-US" sz="1400" dirty="0"/>
              <a:t>2. Austin</a:t>
            </a:r>
          </a:p>
          <a:p>
            <a:r>
              <a:rPr lang="en-US" sz="1400" dirty="0"/>
              <a:t>3. Boston</a:t>
            </a:r>
          </a:p>
          <a:p>
            <a:r>
              <a:rPr lang="en-US" sz="1400" dirty="0"/>
              <a:t>4. Chicago</a:t>
            </a:r>
          </a:p>
          <a:p>
            <a:r>
              <a:rPr lang="en-US" sz="1400" dirty="0"/>
              <a:t>5. Denver</a:t>
            </a:r>
          </a:p>
          <a:p>
            <a:r>
              <a:rPr lang="en-US" sz="1400" dirty="0"/>
              <a:t>6. Dallas</a:t>
            </a:r>
          </a:p>
          <a:p>
            <a:r>
              <a:rPr lang="en-US" sz="1400" dirty="0"/>
              <a:t>7. LA</a:t>
            </a:r>
          </a:p>
          <a:p>
            <a:r>
              <a:rPr lang="en-US" sz="1400" dirty="0"/>
              <a:t>8. Miami</a:t>
            </a:r>
          </a:p>
          <a:p>
            <a:r>
              <a:rPr lang="en-US" sz="1400" dirty="0"/>
              <a:t>9. Nashville</a:t>
            </a:r>
          </a:p>
          <a:p>
            <a:r>
              <a:rPr lang="en-US" sz="1400" dirty="0"/>
              <a:t>10. New York</a:t>
            </a:r>
          </a:p>
          <a:p>
            <a:r>
              <a:rPr lang="en-US" sz="1400" dirty="0"/>
              <a:t>11. Orange County</a:t>
            </a:r>
          </a:p>
          <a:p>
            <a:r>
              <a:rPr lang="en-US" sz="1400" dirty="0"/>
              <a:t>12. Phoenix</a:t>
            </a:r>
          </a:p>
          <a:p>
            <a:r>
              <a:rPr lang="en-US" sz="1400" dirty="0"/>
              <a:t>13. Pittsburgh</a:t>
            </a:r>
          </a:p>
          <a:p>
            <a:r>
              <a:rPr lang="en-US" sz="1400" dirty="0"/>
              <a:t>14.Sacramento</a:t>
            </a:r>
          </a:p>
          <a:p>
            <a:r>
              <a:rPr lang="en-US" sz="1400" dirty="0"/>
              <a:t>15. San Diego</a:t>
            </a:r>
          </a:p>
          <a:p>
            <a:r>
              <a:rPr lang="en-US" sz="1400" dirty="0"/>
              <a:t>16. Seattle</a:t>
            </a:r>
          </a:p>
          <a:p>
            <a:r>
              <a:rPr lang="en-US" sz="1400" dirty="0"/>
              <a:t>17. Silicon Valley</a:t>
            </a:r>
          </a:p>
          <a:p>
            <a:r>
              <a:rPr lang="en-US" sz="1400" dirty="0"/>
              <a:t>18. Tucson</a:t>
            </a:r>
          </a:p>
          <a:p>
            <a:r>
              <a:rPr lang="en-US" sz="1400" dirty="0"/>
              <a:t>19. Washington DC</a:t>
            </a:r>
          </a:p>
        </p:txBody>
      </p:sp>
      <p:pic>
        <p:nvPicPr>
          <p:cNvPr id="167" name="Picture 166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587FB77B-0C1B-E442-4EB5-61AF6EC7BC3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255" y="3275213"/>
            <a:ext cx="841730" cy="845682"/>
          </a:xfrm>
          <a:prstGeom prst="rect">
            <a:avLst/>
          </a:prstGeom>
        </p:spPr>
      </p:pic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50D62481-7F56-AD4C-2664-7296C5CEE18F}"/>
              </a:ext>
            </a:extLst>
          </p:cNvPr>
          <p:cNvCxnSpPr/>
          <p:nvPr/>
        </p:nvCxnSpPr>
        <p:spPr>
          <a:xfrm flipH="1" flipV="1">
            <a:off x="2634114" y="3411193"/>
            <a:ext cx="378593" cy="3041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EAC2E89F-578B-23BB-D512-8A3CB889E597}"/>
              </a:ext>
            </a:extLst>
          </p:cNvPr>
          <p:cNvCxnSpPr>
            <a:cxnSpLocks/>
          </p:cNvCxnSpPr>
          <p:nvPr/>
        </p:nvCxnSpPr>
        <p:spPr>
          <a:xfrm flipH="1">
            <a:off x="2652592" y="3715327"/>
            <a:ext cx="360115" cy="2264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3" name="Picture 172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2A95A146-B301-50D3-363A-23C6CA183BCD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893" y="5970406"/>
            <a:ext cx="843470" cy="843470"/>
          </a:xfrm>
          <a:prstGeom prst="rect">
            <a:avLst/>
          </a:prstGeom>
        </p:spPr>
      </p:pic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4577E0BC-EFA1-86AC-FC28-1C92349364EC}"/>
              </a:ext>
            </a:extLst>
          </p:cNvPr>
          <p:cNvCxnSpPr/>
          <p:nvPr/>
        </p:nvCxnSpPr>
        <p:spPr>
          <a:xfrm>
            <a:off x="4533499" y="5111633"/>
            <a:ext cx="1026129" cy="8587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7D899E0-7DAB-D202-BA0C-773A11B30BFC}"/>
              </a:ext>
            </a:extLst>
          </p:cNvPr>
          <p:cNvCxnSpPr>
            <a:cxnSpLocks/>
          </p:cNvCxnSpPr>
          <p:nvPr/>
        </p:nvCxnSpPr>
        <p:spPr>
          <a:xfrm>
            <a:off x="4501346" y="5111633"/>
            <a:ext cx="648168" cy="11745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F9B9D83B-F889-CE48-9E90-6074165F374A}"/>
              </a:ext>
            </a:extLst>
          </p:cNvPr>
          <p:cNvSpPr txBox="1"/>
          <p:nvPr/>
        </p:nvSpPr>
        <p:spPr>
          <a:xfrm>
            <a:off x="5384596" y="3658041"/>
            <a:ext cx="77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Denver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F4A39729-17ED-A85F-24F6-6584E88E89FC}"/>
              </a:ext>
            </a:extLst>
          </p:cNvPr>
          <p:cNvSpPr txBox="1"/>
          <p:nvPr/>
        </p:nvSpPr>
        <p:spPr>
          <a:xfrm>
            <a:off x="4550488" y="4944894"/>
            <a:ext cx="714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Tucson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41E1164-259E-5580-E589-DAA0545590CA}"/>
              </a:ext>
            </a:extLst>
          </p:cNvPr>
          <p:cNvSpPr txBox="1"/>
          <p:nvPr/>
        </p:nvSpPr>
        <p:spPr>
          <a:xfrm>
            <a:off x="4340922" y="4633302"/>
            <a:ext cx="726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Phoenix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27C8BA3-69B4-57D1-13A1-0107920E6944}"/>
              </a:ext>
            </a:extLst>
          </p:cNvPr>
          <p:cNvSpPr txBox="1"/>
          <p:nvPr/>
        </p:nvSpPr>
        <p:spPr>
          <a:xfrm>
            <a:off x="3525107" y="1689347"/>
            <a:ext cx="726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Seattle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BBE692EB-0F69-9305-2CE5-6F9A72B12DD3}"/>
              </a:ext>
            </a:extLst>
          </p:cNvPr>
          <p:cNvSpPr txBox="1"/>
          <p:nvPr/>
        </p:nvSpPr>
        <p:spPr>
          <a:xfrm>
            <a:off x="8338920" y="4417679"/>
            <a:ext cx="77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Nashville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D76A03F-D565-5F57-A538-85FA301F79AA}"/>
              </a:ext>
            </a:extLst>
          </p:cNvPr>
          <p:cNvSpPr txBox="1"/>
          <p:nvPr/>
        </p:nvSpPr>
        <p:spPr>
          <a:xfrm>
            <a:off x="6741138" y="5290173"/>
            <a:ext cx="77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Dallas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80FBFDB5-EDE9-5501-A68D-085D9DDD2F48}"/>
              </a:ext>
            </a:extLst>
          </p:cNvPr>
          <p:cNvSpPr txBox="1"/>
          <p:nvPr/>
        </p:nvSpPr>
        <p:spPr>
          <a:xfrm>
            <a:off x="6561635" y="5551034"/>
            <a:ext cx="77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Austin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D4A908E-B17C-97A6-7AAC-FA1F579CE423}"/>
              </a:ext>
            </a:extLst>
          </p:cNvPr>
          <p:cNvSpPr txBox="1"/>
          <p:nvPr/>
        </p:nvSpPr>
        <p:spPr>
          <a:xfrm>
            <a:off x="8883325" y="4993701"/>
            <a:ext cx="77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Atlanta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6612D882-8DA5-84D4-A898-AA0AB3F04848}"/>
              </a:ext>
            </a:extLst>
          </p:cNvPr>
          <p:cNvSpPr txBox="1"/>
          <p:nvPr/>
        </p:nvSpPr>
        <p:spPr>
          <a:xfrm>
            <a:off x="10881885" y="2635689"/>
            <a:ext cx="77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Boston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BA0A86F-3EF9-FA23-735A-625BDF91177D}"/>
              </a:ext>
            </a:extLst>
          </p:cNvPr>
          <p:cNvSpPr txBox="1"/>
          <p:nvPr/>
        </p:nvSpPr>
        <p:spPr>
          <a:xfrm>
            <a:off x="9455311" y="3308961"/>
            <a:ext cx="933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Pittsburgh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26F86F8-548B-6ACE-8C94-65CB0B7C6D9F}"/>
              </a:ext>
            </a:extLst>
          </p:cNvPr>
          <p:cNvSpPr txBox="1"/>
          <p:nvPr/>
        </p:nvSpPr>
        <p:spPr>
          <a:xfrm>
            <a:off x="10329559" y="3635413"/>
            <a:ext cx="1339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Washington DC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36E7981-EF69-226D-8E36-B53303D95031}"/>
              </a:ext>
            </a:extLst>
          </p:cNvPr>
          <p:cNvSpPr txBox="1"/>
          <p:nvPr/>
        </p:nvSpPr>
        <p:spPr>
          <a:xfrm>
            <a:off x="9974584" y="6534921"/>
            <a:ext cx="77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Miami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9FEECC26-298D-9D62-5184-8F0AD1B03574}"/>
              </a:ext>
            </a:extLst>
          </p:cNvPr>
          <p:cNvSpPr txBox="1"/>
          <p:nvPr/>
        </p:nvSpPr>
        <p:spPr>
          <a:xfrm>
            <a:off x="9716252" y="2902448"/>
            <a:ext cx="933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New York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DE2F499-4FDA-0BB8-85DF-DD4D2DF68B0B}"/>
              </a:ext>
            </a:extLst>
          </p:cNvPr>
          <p:cNvSpPr txBox="1"/>
          <p:nvPr/>
        </p:nvSpPr>
        <p:spPr>
          <a:xfrm>
            <a:off x="7800953" y="3453185"/>
            <a:ext cx="77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Chicago</a:t>
            </a:r>
          </a:p>
        </p:txBody>
      </p:sp>
      <p:pic>
        <p:nvPicPr>
          <p:cNvPr id="198" name="Picture 197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29682B47-D183-A5C4-E447-54788395002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884" y="4120863"/>
            <a:ext cx="840837" cy="843469"/>
          </a:xfrm>
          <a:prstGeom prst="rect">
            <a:avLst/>
          </a:prstGeom>
        </p:spPr>
      </p:pic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8BAA1DE8-9912-73B2-CDA3-206B4E61E776}"/>
              </a:ext>
            </a:extLst>
          </p:cNvPr>
          <p:cNvCxnSpPr>
            <a:cxnSpLocks/>
          </p:cNvCxnSpPr>
          <p:nvPr/>
        </p:nvCxnSpPr>
        <p:spPr>
          <a:xfrm flipH="1" flipV="1">
            <a:off x="2892563" y="4375687"/>
            <a:ext cx="378593" cy="1128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57815B6B-31BF-B8B8-938D-5B02745C3DE3}"/>
              </a:ext>
            </a:extLst>
          </p:cNvPr>
          <p:cNvCxnSpPr>
            <a:cxnSpLocks/>
          </p:cNvCxnSpPr>
          <p:nvPr/>
        </p:nvCxnSpPr>
        <p:spPr>
          <a:xfrm flipH="1">
            <a:off x="2853959" y="4526760"/>
            <a:ext cx="436434" cy="2606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6" name="Picture 205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35895C5C-06C4-BD09-FFD4-ABAA05A85693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258" y="4965568"/>
            <a:ext cx="843469" cy="843469"/>
          </a:xfrm>
          <a:prstGeom prst="rect">
            <a:avLst/>
          </a:prstGeom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4F4D6B09-36F9-5689-F054-A2B77722510C}"/>
              </a:ext>
            </a:extLst>
          </p:cNvPr>
          <p:cNvCxnSpPr>
            <a:cxnSpLocks/>
          </p:cNvCxnSpPr>
          <p:nvPr/>
        </p:nvCxnSpPr>
        <p:spPr>
          <a:xfrm flipH="1">
            <a:off x="2943721" y="4625930"/>
            <a:ext cx="481291" cy="3384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17C02541-4715-EFC4-8870-76E5814C8210}"/>
              </a:ext>
            </a:extLst>
          </p:cNvPr>
          <p:cNvCxnSpPr>
            <a:cxnSpLocks/>
          </p:cNvCxnSpPr>
          <p:nvPr/>
        </p:nvCxnSpPr>
        <p:spPr>
          <a:xfrm flipH="1">
            <a:off x="3361791" y="4625930"/>
            <a:ext cx="82939" cy="5152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8" name="Picture 217" descr="A yellow and pink pie chart&#10;&#10;AI-generated content may be incorrect.">
            <a:extLst>
              <a:ext uri="{FF2B5EF4-FFF2-40B4-BE49-F238E27FC236}">
                <a16:creationId xmlns:a16="http://schemas.microsoft.com/office/drawing/2014/main" id="{7AFFEE30-50C3-4EB3-6D1F-E60732EE1E34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107" y="5367490"/>
            <a:ext cx="849189" cy="845264"/>
          </a:xfrm>
          <a:prstGeom prst="rect">
            <a:avLst/>
          </a:prstGeom>
        </p:spPr>
      </p:pic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53096C80-0199-84A7-4DE1-D8ABFE9C323A}"/>
              </a:ext>
            </a:extLst>
          </p:cNvPr>
          <p:cNvCxnSpPr/>
          <p:nvPr/>
        </p:nvCxnSpPr>
        <p:spPr>
          <a:xfrm>
            <a:off x="3599848" y="4864178"/>
            <a:ext cx="0" cy="6559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484622D9-11CA-8468-2FEC-6756A5481459}"/>
              </a:ext>
            </a:extLst>
          </p:cNvPr>
          <p:cNvCxnSpPr>
            <a:cxnSpLocks/>
            <a:endCxn id="218" idx="0"/>
          </p:cNvCxnSpPr>
          <p:nvPr/>
        </p:nvCxnSpPr>
        <p:spPr>
          <a:xfrm>
            <a:off x="3599848" y="4864178"/>
            <a:ext cx="349854" cy="5033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70DB4DD7-3177-17EE-52E8-8FAC659E7F30}"/>
              </a:ext>
            </a:extLst>
          </p:cNvPr>
          <p:cNvSpPr txBox="1"/>
          <p:nvPr/>
        </p:nvSpPr>
        <p:spPr>
          <a:xfrm>
            <a:off x="3064789" y="3277682"/>
            <a:ext cx="1024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Sacramento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8AD0CC40-37F3-EBAB-2BB9-B3DBA3BCBE08}"/>
              </a:ext>
            </a:extLst>
          </p:cNvPr>
          <p:cNvSpPr txBox="1"/>
          <p:nvPr/>
        </p:nvSpPr>
        <p:spPr>
          <a:xfrm>
            <a:off x="2965190" y="3693509"/>
            <a:ext cx="646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Silicon</a:t>
            </a:r>
          </a:p>
          <a:p>
            <a:r>
              <a:rPr lang="en-US" sz="1200" b="1" dirty="0"/>
              <a:t> Valley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64322AC-61F8-DEC6-5CC6-DB82AE0ADD33}"/>
              </a:ext>
            </a:extLst>
          </p:cNvPr>
          <p:cNvSpPr txBox="1"/>
          <p:nvPr/>
        </p:nvSpPr>
        <p:spPr>
          <a:xfrm>
            <a:off x="2988094" y="4215924"/>
            <a:ext cx="1024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Los Angeles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644849A0-06B6-9939-6D9E-B4B833AF7B0F}"/>
              </a:ext>
            </a:extLst>
          </p:cNvPr>
          <p:cNvSpPr txBox="1"/>
          <p:nvPr/>
        </p:nvSpPr>
        <p:spPr>
          <a:xfrm>
            <a:off x="3546712" y="4733968"/>
            <a:ext cx="1024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San  Diego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0BC16579-30D0-3610-B1D1-13AB89916A13}"/>
              </a:ext>
            </a:extLst>
          </p:cNvPr>
          <p:cNvSpPr txBox="1"/>
          <p:nvPr/>
        </p:nvSpPr>
        <p:spPr>
          <a:xfrm>
            <a:off x="3396979" y="4434436"/>
            <a:ext cx="1507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Orange  County</a:t>
            </a:r>
          </a:p>
        </p:txBody>
      </p:sp>
      <p:pic>
        <p:nvPicPr>
          <p:cNvPr id="233" name="Picture 232">
            <a:extLst>
              <a:ext uri="{FF2B5EF4-FFF2-40B4-BE49-F238E27FC236}">
                <a16:creationId xmlns:a16="http://schemas.microsoft.com/office/drawing/2014/main" id="{C6487025-920D-B227-554B-B11C9C75335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9108" y="5326844"/>
            <a:ext cx="1933845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388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40E68-D282-F943-CF99-786EC69B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B116F0E7-1429-36B3-B068-D748B26673E5}"/>
              </a:ext>
            </a:extLst>
          </p:cNvPr>
          <p:cNvSpPr txBox="1"/>
          <p:nvPr/>
        </p:nvSpPr>
        <p:spPr>
          <a:xfrm>
            <a:off x="1" y="-287108"/>
            <a:ext cx="12192000" cy="769441"/>
          </a:xfrm>
          <a:prstGeom prst="rect">
            <a:avLst/>
          </a:prstGeom>
          <a:solidFill>
            <a:srgbClr val="3B3B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6600"/>
                </a:solidFill>
              </a:rPr>
              <a:t>Annual Seasonality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B8DD7-2D96-F0A6-901C-2C54F5596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61" y="924857"/>
            <a:ext cx="11624443" cy="2792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22B4E6-00E2-28AD-BEE4-7EA087D21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61" y="3345663"/>
            <a:ext cx="11855781" cy="286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90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70B3D-ADD7-AA1B-401A-BE6F39FD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C67C453E-047C-BFFA-F353-63A5C40F965D}"/>
              </a:ext>
            </a:extLst>
          </p:cNvPr>
          <p:cNvSpPr txBox="1"/>
          <p:nvPr/>
        </p:nvSpPr>
        <p:spPr>
          <a:xfrm>
            <a:off x="1" y="-287108"/>
            <a:ext cx="12192000" cy="769441"/>
          </a:xfrm>
          <a:prstGeom prst="rect">
            <a:avLst/>
          </a:prstGeom>
          <a:solidFill>
            <a:srgbClr val="3B3B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6600"/>
                </a:solidFill>
              </a:rPr>
              <a:t>Monthly Demand Seasonality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73A482-6CEC-7027-B420-6F02C1B85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81" y="5623759"/>
            <a:ext cx="1933845" cy="1143160"/>
          </a:xfrm>
          <a:prstGeom prst="rect">
            <a:avLst/>
          </a:prstGeom>
        </p:spPr>
      </p:pic>
      <p:pic>
        <p:nvPicPr>
          <p:cNvPr id="8" name="Picture 7" descr="A graph of a person with a number of transactions&#10;&#10;AI-generated content may be incorrect.">
            <a:extLst>
              <a:ext uri="{FF2B5EF4-FFF2-40B4-BE49-F238E27FC236}">
                <a16:creationId xmlns:a16="http://schemas.microsoft.com/office/drawing/2014/main" id="{68078DF8-5421-4FDB-739B-6687E9522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60" y="644893"/>
            <a:ext cx="10723974" cy="517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D924-0D70-9569-600B-819E917CC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9EAFB589-7293-0D34-7F00-DD2B32E801AF}"/>
              </a:ext>
            </a:extLst>
          </p:cNvPr>
          <p:cNvSpPr txBox="1"/>
          <p:nvPr/>
        </p:nvSpPr>
        <p:spPr>
          <a:xfrm>
            <a:off x="1" y="-287108"/>
            <a:ext cx="12192000" cy="769441"/>
          </a:xfrm>
          <a:prstGeom prst="rect">
            <a:avLst/>
          </a:prstGeom>
          <a:solidFill>
            <a:srgbClr val="3B3B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6600"/>
                </a:solidFill>
              </a:rPr>
              <a:t>Weekly Demand Seasonality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98C0BD-7AFA-7524-FC8F-FF1D26139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08" y="5326844"/>
            <a:ext cx="1933845" cy="11431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AB7B459-67CD-76B6-1305-474CA0FAA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452" y="482333"/>
            <a:ext cx="8037095" cy="618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382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2A8A5-7699-054B-D896-D74991AD6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058F8BBB-6772-DDEF-D034-B6074E894149}"/>
              </a:ext>
            </a:extLst>
          </p:cNvPr>
          <p:cNvSpPr txBox="1"/>
          <p:nvPr/>
        </p:nvSpPr>
        <p:spPr>
          <a:xfrm>
            <a:off x="1" y="-287108"/>
            <a:ext cx="12192000" cy="769441"/>
          </a:xfrm>
          <a:prstGeom prst="rect">
            <a:avLst/>
          </a:prstGeom>
          <a:solidFill>
            <a:srgbClr val="3B3B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6600"/>
                </a:solidFill>
              </a:rPr>
              <a:t>Holiday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7551E-0B39-F538-AF62-7C60D45CB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" y="1109304"/>
            <a:ext cx="12060455" cy="42175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FA73DF-9C08-F674-9614-39A90D895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08" y="5326844"/>
            <a:ext cx="1933845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47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9D5F0-75C7-0976-8954-C5A8D40D6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07A7-0EF5-4C37-AA80-86AE709E4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5400000">
            <a:off x="-223789" y="223788"/>
            <a:ext cx="6858002" cy="6410426"/>
          </a:xfrm>
          <a:solidFill>
            <a:srgbClr val="3B3B3B"/>
          </a:solidFill>
        </p:spPr>
        <p:txBody>
          <a:bodyPr vert="vert270" anchor="t" anchorCtr="0"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>
                <a:solidFill>
                  <a:srgbClr val="FF6600"/>
                </a:solidFill>
              </a:rPr>
              <a:t>Takeaways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EE4CB-0480-B61A-9809-86B8EDE3C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5400000">
            <a:off x="5872210" y="538214"/>
            <a:ext cx="6858004" cy="5781575"/>
          </a:xfrm>
        </p:spPr>
        <p:txBody>
          <a:bodyPr vert="vert270">
            <a:normAutofit fontScale="92500" lnSpcReduction="10000"/>
          </a:bodyPr>
          <a:lstStyle/>
          <a:p>
            <a:endParaRPr lang="en-US" dirty="0"/>
          </a:p>
          <a:p>
            <a:pPr algn="just"/>
            <a:r>
              <a:rPr lang="en-US"/>
              <a:t>   </a:t>
            </a:r>
            <a:r>
              <a:rPr lang="en-US" sz="2800"/>
              <a:t>        </a:t>
            </a:r>
            <a:endParaRPr lang="en-US"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Both Yellow Cab and Pink Cab serve all 19 cities.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Yellow Cab does a higher volume of business than Pink Cab.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Yellow Cab has higher profit per KM than pink Cab Company.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There is annual seasonality to the cab </a:t>
            </a:r>
            <a:r>
              <a:rPr lang="en-US" sz="1800" dirty="0" err="1"/>
              <a:t>businiess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The winter months have higher ridership than the other seasons.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There is weekly seasonality to the cab business. Friday is the busiest day. Monday is the least busy day.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There is a lot more business on the weekends than the weekdays.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More men ride cabs than women.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The age range most likely to ride cabs is the age range of 20-30 years.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Yellow Cab does double the profit per kilometer than Pink Cab.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In Female ridership, 84% female riders of Yellow Cab are return Riders and only 60% female riders are return riders for Pink Cab.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The income group that utilizes cabs the most is Upper Class.</a:t>
            </a:r>
          </a:p>
          <a:p>
            <a:endParaRPr lang="en-US" sz="14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C485EA-5869-6E41-BD6A-ADD6D2965C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82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31EC-0C0A-5049-CC56-885202B4B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60803-9C98-2DC2-8330-32AFFB6A1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5400000">
            <a:off x="-223789" y="223788"/>
            <a:ext cx="6858002" cy="6410426"/>
          </a:xfrm>
          <a:solidFill>
            <a:srgbClr val="3B3B3B"/>
          </a:solidFill>
        </p:spPr>
        <p:txBody>
          <a:bodyPr vert="vert270" anchor="t" anchorCtr="0"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>
                <a:solidFill>
                  <a:srgbClr val="FF6600"/>
                </a:solidFill>
              </a:rPr>
              <a:t>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B9FA5E-44AB-833F-BDD3-91E97AB70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5400000">
            <a:off x="5732643" y="822160"/>
            <a:ext cx="6858004" cy="5213684"/>
          </a:xfrm>
        </p:spPr>
        <p:txBody>
          <a:bodyPr vert="vert270">
            <a:normAutofit/>
          </a:bodyPr>
          <a:lstStyle/>
          <a:p>
            <a:endParaRPr lang="en-US" dirty="0">
              <a:solidFill>
                <a:srgbClr val="FF6600"/>
              </a:solidFill>
            </a:endParaRPr>
          </a:p>
          <a:p>
            <a:pPr algn="just"/>
            <a:r>
              <a:rPr lang="en-US" dirty="0">
                <a:solidFill>
                  <a:srgbClr val="FF6600"/>
                </a:solidFill>
              </a:rPr>
              <a:t>   </a:t>
            </a:r>
          </a:p>
          <a:p>
            <a:pPr algn="just"/>
            <a:r>
              <a:rPr lang="en-US" sz="2800" dirty="0"/>
              <a:t>         </a:t>
            </a:r>
          </a:p>
          <a:p>
            <a:pPr algn="just"/>
            <a:r>
              <a:rPr lang="en-US" sz="2800" dirty="0"/>
              <a:t>It is recommended that XYZ company acquire Yellow Cab company.</a:t>
            </a:r>
            <a:endParaRPr lang="en-US" sz="3200" dirty="0"/>
          </a:p>
          <a:p>
            <a:endParaRPr lang="en-US" dirty="0">
              <a:solidFill>
                <a:srgbClr val="FF6600"/>
              </a:solidFill>
            </a:endParaRPr>
          </a:p>
          <a:p>
            <a:endParaRPr lang="en-US" dirty="0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695665-B5FE-3364-E540-59C64CB7DF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62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F26E-9345-4747-9094-972E38700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5400000">
            <a:off x="-562431" y="562430"/>
            <a:ext cx="6858002" cy="5733142"/>
          </a:xfrm>
          <a:solidFill>
            <a:srgbClr val="3B3B3B"/>
          </a:solidFill>
        </p:spPr>
        <p:txBody>
          <a:bodyPr vert="vert270" anchor="t" anchorCtr="0"/>
          <a:lstStyle/>
          <a:p>
            <a:endParaRPr lang="en-US" b="1" dirty="0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2D4BA697-580E-5544-8F2F-194AD99B8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2570" y="2481943"/>
            <a:ext cx="5558973" cy="1655762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FF6600"/>
                </a:solidFill>
              </a:rPr>
              <a:t>Thank You</a:t>
            </a:r>
          </a:p>
          <a:p>
            <a:endParaRPr lang="en-US" sz="6600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21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6BA0D-F514-752B-1640-CC5D14361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DB401B-81DA-27E2-2F80-94DC24F7EF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584" y="5833241"/>
            <a:ext cx="1366924" cy="13669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C5E713-3D48-EAE0-D4F7-94BFBF1D04D9}"/>
              </a:ext>
            </a:extLst>
          </p:cNvPr>
          <p:cNvSpPr txBox="1"/>
          <p:nvPr/>
        </p:nvSpPr>
        <p:spPr>
          <a:xfrm>
            <a:off x="1097345" y="0"/>
            <a:ext cx="8698215" cy="1384995"/>
          </a:xfrm>
          <a:prstGeom prst="rect">
            <a:avLst/>
          </a:prstGeom>
          <a:solidFill>
            <a:srgbClr val="3B3B3B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solidFill>
                  <a:srgbClr val="FF6600"/>
                </a:solidFill>
              </a:rPr>
              <a:t>Combined Daily Demand</a:t>
            </a:r>
          </a:p>
          <a:p>
            <a:pPr algn="ctr"/>
            <a:r>
              <a:rPr lang="en-US" b="1" dirty="0">
                <a:solidFill>
                  <a:srgbClr val="FF6600"/>
                </a:solidFill>
              </a:rPr>
              <a:t>Hypothesis 1: Is daily demand for cab rides greater on weekdays?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8C5B7-4F05-3DD2-6D5C-7F8F39D124A4}"/>
              </a:ext>
            </a:extLst>
          </p:cNvPr>
          <p:cNvSpPr txBox="1"/>
          <p:nvPr/>
        </p:nvSpPr>
        <p:spPr>
          <a:xfrm>
            <a:off x="6381880" y="1753126"/>
            <a:ext cx="5717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Result: This chart indicates that Friday has the greatest number of transactions. Friday, Saturday, and Sunday have a much greater number of transactions than Monday, Tuesday, Wednesday, or Thursday.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5B34C-D5C2-2B9B-6BFE-C3C98F9533B4}"/>
              </a:ext>
            </a:extLst>
          </p:cNvPr>
          <p:cNvSpPr txBox="1"/>
          <p:nvPr/>
        </p:nvSpPr>
        <p:spPr>
          <a:xfrm>
            <a:off x="6381880" y="3134185"/>
            <a:ext cx="55957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Reject Hypothesis 1. 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Hypothesis 1: Is demand for cab rides greater on weekdays?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Answer: NO 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INSIGHT: The demand for cab rides is greater on the weekends than the weekdays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INSIGHT: The Yellow Cab company does more transactions than the Pink Cab Company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038470-D334-3017-D93D-9D41C0D53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10" y="1866636"/>
            <a:ext cx="5881589" cy="452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83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4704D-7F28-7754-04B6-B9969399B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DC0417-81CD-EB62-A0A9-B001BAF36F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584" y="5833241"/>
            <a:ext cx="1366924" cy="13669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372215-C625-DD37-63CA-A67CFB070C4C}"/>
              </a:ext>
            </a:extLst>
          </p:cNvPr>
          <p:cNvSpPr txBox="1"/>
          <p:nvPr/>
        </p:nvSpPr>
        <p:spPr>
          <a:xfrm>
            <a:off x="1437596" y="0"/>
            <a:ext cx="8017708" cy="1384995"/>
          </a:xfrm>
          <a:prstGeom prst="rect">
            <a:avLst/>
          </a:prstGeom>
          <a:solidFill>
            <a:srgbClr val="3B3B3B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solidFill>
                  <a:srgbClr val="FF6600"/>
                </a:solidFill>
              </a:rPr>
              <a:t>Combined Daily Profits</a:t>
            </a:r>
          </a:p>
          <a:p>
            <a:pPr algn="ctr"/>
            <a:r>
              <a:rPr lang="en-US" b="1" dirty="0">
                <a:solidFill>
                  <a:srgbClr val="FF6600"/>
                </a:solidFill>
              </a:rPr>
              <a:t>Hypothesis 2: Are the daily profits greater on the weekend?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9DA8B-084B-CDBB-9A89-86E5A7BF2FDB}"/>
              </a:ext>
            </a:extLst>
          </p:cNvPr>
          <p:cNvSpPr txBox="1"/>
          <p:nvPr/>
        </p:nvSpPr>
        <p:spPr>
          <a:xfrm>
            <a:off x="6381880" y="1753126"/>
            <a:ext cx="5717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Result: The profits are greater on Friday, Saturday, and Sunday than the weekdays.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9D8F7-036F-B7FC-3708-3BA5C54F9029}"/>
              </a:ext>
            </a:extLst>
          </p:cNvPr>
          <p:cNvSpPr txBox="1"/>
          <p:nvPr/>
        </p:nvSpPr>
        <p:spPr>
          <a:xfrm>
            <a:off x="6381880" y="2649339"/>
            <a:ext cx="55957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Accept Hypothesis 2. 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Hypothesis 2: Are the daily profits greater on the weekend?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Answer: YES 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INSIGHT: The profit from cab rides is greater on the weekends than the weekdays.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INSIGHT: The Yellow Cab company generates more daily profits than the Pink Cab Company.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AD0FD0-12BA-9328-77A2-0D859F51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11" y="1753126"/>
            <a:ext cx="6047652" cy="452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715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DDD5B-D1C4-67E8-7799-CBAF21DD1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BAB166-632A-9C30-AB6F-1274067B16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584" y="5833241"/>
            <a:ext cx="1366924" cy="13669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0CD6AF-120C-7AE8-B1D4-1D75A513DB45}"/>
              </a:ext>
            </a:extLst>
          </p:cNvPr>
          <p:cNvSpPr txBox="1"/>
          <p:nvPr/>
        </p:nvSpPr>
        <p:spPr>
          <a:xfrm>
            <a:off x="1437596" y="0"/>
            <a:ext cx="8017708" cy="1384995"/>
          </a:xfrm>
          <a:prstGeom prst="rect">
            <a:avLst/>
          </a:prstGeom>
          <a:solidFill>
            <a:srgbClr val="3B3B3B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solidFill>
                  <a:srgbClr val="FF6600"/>
                </a:solidFill>
              </a:rPr>
              <a:t>Combined Daily Profits</a:t>
            </a:r>
          </a:p>
          <a:p>
            <a:pPr algn="ctr"/>
            <a:r>
              <a:rPr lang="en-US" b="1" dirty="0">
                <a:solidFill>
                  <a:srgbClr val="FF6600"/>
                </a:solidFill>
              </a:rPr>
              <a:t>Hypothesis 3: Do the daily profits mirror the demand?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75AE0-C12B-6AB7-7F37-59C7BF1C7853}"/>
              </a:ext>
            </a:extLst>
          </p:cNvPr>
          <p:cNvSpPr txBox="1"/>
          <p:nvPr/>
        </p:nvSpPr>
        <p:spPr>
          <a:xfrm>
            <a:off x="6381880" y="1753126"/>
            <a:ext cx="5717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Result: The daily profits for the Yellow Cab Company mirrors demand. The daily profits for the Pink Cab Company does not mirror demand.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07B29-8840-CAB9-961B-EE4BC1AB0E12}"/>
              </a:ext>
            </a:extLst>
          </p:cNvPr>
          <p:cNvSpPr txBox="1"/>
          <p:nvPr/>
        </p:nvSpPr>
        <p:spPr>
          <a:xfrm>
            <a:off x="6381880" y="3134185"/>
            <a:ext cx="55957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Reject Hypothesis 3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Hypothesis 3: Do the daily profits mirror demand?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Answer: NO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INSIGHT: There appears to be a great discrepancy in profit and demand for the Pink Cab Company.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C15576-2EAD-8F30-7D08-F3504511B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10" y="1608084"/>
            <a:ext cx="5881589" cy="2522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7BB118-AE15-DDFC-80BB-E244E3E0C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11" y="4250383"/>
            <a:ext cx="5881588" cy="245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22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856ED-91E8-25DE-5839-465AD2501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DA03A2-F4FE-63C6-8A73-7F60B3CD8A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584" y="5833241"/>
            <a:ext cx="1366924" cy="13669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BC9404-55EA-578E-7B1A-76109256A151}"/>
              </a:ext>
            </a:extLst>
          </p:cNvPr>
          <p:cNvSpPr txBox="1"/>
          <p:nvPr/>
        </p:nvSpPr>
        <p:spPr>
          <a:xfrm>
            <a:off x="831566" y="0"/>
            <a:ext cx="9229771" cy="1384995"/>
          </a:xfrm>
          <a:prstGeom prst="rect">
            <a:avLst/>
          </a:prstGeom>
          <a:solidFill>
            <a:srgbClr val="3B3B3B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solidFill>
                  <a:srgbClr val="FF6600"/>
                </a:solidFill>
              </a:rPr>
              <a:t>Combined Monthly Profits</a:t>
            </a:r>
          </a:p>
          <a:p>
            <a:pPr algn="ctr"/>
            <a:r>
              <a:rPr lang="en-US" b="1" dirty="0">
                <a:solidFill>
                  <a:srgbClr val="FF6600"/>
                </a:solidFill>
              </a:rPr>
              <a:t>Hypothesis 4: Is there seasonality to profits?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2ED7D-05C7-DE3C-D17F-B48DC9EC4208}"/>
              </a:ext>
            </a:extLst>
          </p:cNvPr>
          <p:cNvSpPr txBox="1"/>
          <p:nvPr/>
        </p:nvSpPr>
        <p:spPr>
          <a:xfrm>
            <a:off x="6381880" y="1753126"/>
            <a:ext cx="571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Result: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84076-566B-EB4B-1171-F8C2ECC85369}"/>
              </a:ext>
            </a:extLst>
          </p:cNvPr>
          <p:cNvSpPr txBox="1"/>
          <p:nvPr/>
        </p:nvSpPr>
        <p:spPr>
          <a:xfrm>
            <a:off x="6381880" y="3134185"/>
            <a:ext cx="55957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Reject Hypothesis 3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Hypothesis 3: Do the daily profits mirror demand?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Answer: NO</a:t>
            </a:r>
          </a:p>
          <a:p>
            <a:endParaRPr lang="en-US" b="1" dirty="0">
              <a:solidFill>
                <a:srgbClr val="FF6600"/>
              </a:solidFill>
            </a:endParaRPr>
          </a:p>
          <a:p>
            <a:r>
              <a:rPr lang="en-US" b="1" dirty="0">
                <a:solidFill>
                  <a:srgbClr val="FF6600"/>
                </a:solidFill>
              </a:rPr>
              <a:t>INSIGHT: There appears to be a great discrepancy in profit and demand for the Pink Cab Company.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5540FD-1078-5847-142C-96267230E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24" y="1535659"/>
            <a:ext cx="5927834" cy="2727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1330E2-5288-70C7-F627-E337D895E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24" y="4319752"/>
            <a:ext cx="5927834" cy="247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69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ta Glacier Internship" id="{2B17C0A9-4F1A-394C-9305-82F12CA26E4F}" vid="{F9955FDF-826E-7C4D-B52C-017E9540C8B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 Glacier Internship</Template>
  <TotalTime>2361</TotalTime>
  <Words>1345</Words>
  <Application>Microsoft Office PowerPoint</Application>
  <PresentationFormat>Widescreen</PresentationFormat>
  <Paragraphs>298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Abadi</vt:lpstr>
      <vt:lpstr>Arial</vt:lpstr>
      <vt:lpstr>Calibri</vt:lpstr>
      <vt:lpstr>Calibri Light</vt:lpstr>
      <vt:lpstr>Office Theme</vt:lpstr>
      <vt:lpstr>PowerPoint Presentation</vt:lpstr>
      <vt:lpstr>  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Takeaways</vt:lpstr>
      <vt:lpstr>   Recommendations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Kym Nichols</dc:creator>
  <cp:lastModifiedBy>Kym Nichols</cp:lastModifiedBy>
  <cp:revision>2</cp:revision>
  <dcterms:created xsi:type="dcterms:W3CDTF">2025-02-12T22:01:24Z</dcterms:created>
  <dcterms:modified xsi:type="dcterms:W3CDTF">2025-02-21T22:56:04Z</dcterms:modified>
</cp:coreProperties>
</file>